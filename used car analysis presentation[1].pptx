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7" r:id="rId1"/>
  </p:sldMasterIdLst>
  <p:sldIdLst>
    <p:sldId id="256" r:id="rId2"/>
    <p:sldId id="257" r:id="rId3"/>
    <p:sldId id="258" r:id="rId4"/>
    <p:sldId id="259" r:id="rId5"/>
    <p:sldId id="261" r:id="rId6"/>
    <p:sldId id="262" r:id="rId7"/>
    <p:sldId id="263" r:id="rId8"/>
    <p:sldId id="264" r:id="rId9"/>
    <p:sldId id="265" r:id="rId10"/>
    <p:sldId id="268" r:id="rId11"/>
    <p:sldId id="269" r:id="rId12"/>
    <p:sldId id="270" r:id="rId13"/>
    <p:sldId id="276" r:id="rId14"/>
    <p:sldId id="272" r:id="rId15"/>
    <p:sldId id="277" r:id="rId16"/>
    <p:sldId id="273" r:id="rId17"/>
    <p:sldId id="274"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5963E6-B52D-46AF-967D-E71C16ACAFC7}"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2929474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963E6-B52D-46AF-967D-E71C16ACAFC7}"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784545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5963E6-B52D-46AF-967D-E71C16ACAFC7}"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061424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5963E6-B52D-46AF-967D-E71C16ACAFC7}"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25736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5963E6-B52D-46AF-967D-E71C16ACAFC7}" type="datetimeFigureOut">
              <a:rPr lang="en-IN" smtClean="0"/>
              <a:t>21-04-2025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68283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5963E6-B52D-46AF-967D-E71C16ACAFC7}" type="datetimeFigureOut">
              <a:rPr lang="en-IN" smtClean="0"/>
              <a:t>21-04-2025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3180824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5963E6-B52D-46AF-967D-E71C16ACAFC7}" type="datetimeFigureOut">
              <a:rPr lang="en-IN" smtClean="0"/>
              <a:t>21-04-2025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97515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2089398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347655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475654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3071342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15728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3792392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B5963E6-B52D-46AF-967D-E71C16ACAFC7}" type="datetimeFigureOut">
              <a:rPr lang="en-IN" smtClean="0"/>
              <a:t>21-04-2025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145583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B5963E6-B52D-46AF-967D-E71C16ACAFC7}" type="datetimeFigureOut">
              <a:rPr lang="en-IN" smtClean="0"/>
              <a:t>21-04-2025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881660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963E6-B52D-46AF-967D-E71C16ACAFC7}"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4051151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963E6-B52D-46AF-967D-E71C16ACAFC7}"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953906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B5963E6-B52D-46AF-967D-E71C16ACAFC7}" type="datetimeFigureOut">
              <a:rPr lang="en-IN" smtClean="0"/>
              <a:t>21-04-2025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5548E0A-2C61-49B5-9112-2F4F6A3715FA}" type="slidenum">
              <a:rPr lang="en-IN" smtClean="0"/>
              <a:t>‹#›</a:t>
            </a:fld>
            <a:endParaRPr lang="en-IN"/>
          </a:p>
        </p:txBody>
      </p:sp>
    </p:spTree>
    <p:extLst>
      <p:ext uri="{BB962C8B-B14F-4D97-AF65-F5344CB8AC3E}">
        <p14:creationId xmlns:p14="http://schemas.microsoft.com/office/powerpoint/2010/main" val="2980024880"/>
      </p:ext>
    </p:extLst>
  </p:cSld>
  <p:clrMap bg1="dk1" tx1="lt1" bg2="dk2"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 id="2147483824"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372FC-4B3B-4A6F-AA81-3143A1EFB1F1}"/>
              </a:ext>
            </a:extLst>
          </p:cNvPr>
          <p:cNvSpPr>
            <a:spLocks noGrp="1"/>
          </p:cNvSpPr>
          <p:nvPr>
            <p:ph type="ctrTitle"/>
          </p:nvPr>
        </p:nvSpPr>
        <p:spPr>
          <a:xfrm>
            <a:off x="1595269" y="1122363"/>
            <a:ext cx="9001462" cy="1671637"/>
          </a:xfrm>
        </p:spPr>
        <p:txBody>
          <a:bodyPr>
            <a:normAutofit/>
          </a:bodyPr>
          <a:lstStyle/>
          <a:p>
            <a:r>
              <a:rPr lang="en-US" dirty="0"/>
              <a:t>Used Cars Price Analysis</a:t>
            </a:r>
            <a:endParaRPr lang="en-IN" b="1" dirty="0"/>
          </a:p>
        </p:txBody>
      </p:sp>
      <p:sp>
        <p:nvSpPr>
          <p:cNvPr id="3" name="Subtitle 2">
            <a:extLst>
              <a:ext uri="{FF2B5EF4-FFF2-40B4-BE49-F238E27FC236}">
                <a16:creationId xmlns:a16="http://schemas.microsoft.com/office/drawing/2014/main" id="{3F1D688D-4A51-4BF9-9F01-157BEC5AB69E}"/>
              </a:ext>
            </a:extLst>
          </p:cNvPr>
          <p:cNvSpPr>
            <a:spLocks noGrp="1"/>
          </p:cNvSpPr>
          <p:nvPr>
            <p:ph type="subTitle" idx="1"/>
          </p:nvPr>
        </p:nvSpPr>
        <p:spPr>
          <a:xfrm>
            <a:off x="8295860" y="5035826"/>
            <a:ext cx="3723861" cy="1019875"/>
          </a:xfrm>
        </p:spPr>
        <p:txBody>
          <a:bodyPr>
            <a:normAutofit/>
          </a:bodyPr>
          <a:lstStyle/>
          <a:p>
            <a:r>
              <a:rPr lang="en-US" sz="2000" b="1" dirty="0">
                <a:latin typeface="Calibri" panose="020F0502020204030204" pitchFamily="34" charset="0"/>
                <a:cs typeface="Calibri" panose="020F0502020204030204" pitchFamily="34" charset="0"/>
              </a:rPr>
              <a:t>Presented by: </a:t>
            </a:r>
          </a:p>
          <a:p>
            <a:r>
              <a:rPr lang="en-US" sz="2000" b="1" dirty="0">
                <a:latin typeface="Calibri" panose="020F0502020204030204" pitchFamily="34" charset="0"/>
                <a:cs typeface="Calibri" panose="020F0502020204030204" pitchFamily="34" charset="0"/>
              </a:rPr>
              <a:t>                        Jay Kumar</a:t>
            </a:r>
            <a:endParaRPr lang="en-IN"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97277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C05E-6926-4B82-BD1E-F36AECD6F2FB}"/>
              </a:ext>
            </a:extLst>
          </p:cNvPr>
          <p:cNvSpPr>
            <a:spLocks noGrp="1"/>
          </p:cNvSpPr>
          <p:nvPr>
            <p:ph type="ctrTitle"/>
          </p:nvPr>
        </p:nvSpPr>
        <p:spPr>
          <a:xfrm>
            <a:off x="450575" y="384314"/>
            <a:ext cx="10604278" cy="689112"/>
          </a:xfrm>
        </p:spPr>
        <p:txBody>
          <a:bodyPr>
            <a:normAutofit/>
          </a:bodyPr>
          <a:lstStyle/>
          <a:p>
            <a:r>
              <a:rPr lang="en-US" sz="3200" b="1" dirty="0">
                <a:solidFill>
                  <a:schemeClr val="tx2"/>
                </a:solidFill>
                <a:latin typeface="Times New Roman" panose="02020603050405020304" pitchFamily="18" charset="0"/>
                <a:cs typeface="Times New Roman" panose="02020603050405020304" pitchFamily="18" charset="0"/>
              </a:rPr>
              <a:t>Project Objective</a:t>
            </a:r>
            <a:r>
              <a:rPr lang="en-US" sz="3200" b="1" dirty="0">
                <a:latin typeface="Times New Roman" panose="02020603050405020304" pitchFamily="18" charset="0"/>
                <a:cs typeface="Times New Roman" panose="02020603050405020304" pitchFamily="18" charset="0"/>
              </a:rPr>
              <a:t>:-</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EB393A8-775F-4436-A2F5-5627A3BF8D3D}"/>
              </a:ext>
            </a:extLst>
          </p:cNvPr>
          <p:cNvSpPr>
            <a:spLocks noGrp="1"/>
          </p:cNvSpPr>
          <p:nvPr>
            <p:ph type="subTitle" idx="1"/>
          </p:nvPr>
        </p:nvSpPr>
        <p:spPr>
          <a:xfrm>
            <a:off x="450575" y="1559987"/>
            <a:ext cx="10471756" cy="6228522"/>
          </a:xfrm>
        </p:spPr>
        <p:txBody>
          <a:bodyPr/>
          <a:lstStyle/>
          <a:p>
            <a:endParaRPr lang="en-US" dirty="0"/>
          </a:p>
          <a:p>
            <a:r>
              <a:rPr lang="en-US" dirty="0"/>
              <a:t>The objective of the "Used Cars Price Analysis" project is to perform a comprehensive examination of the factors influencing the pricing of used cars in the market.</a:t>
            </a:r>
          </a:p>
          <a:p>
            <a:endParaRPr lang="en-US" dirty="0"/>
          </a:p>
          <a:p>
            <a:r>
              <a:rPr lang="en-US" dirty="0"/>
              <a:t> 	By analyzing various features such as car model, mileage, age, and brand, this project aims         	to identify key trends, consumer preferences, and factors that significantly affect the resale 	value. The insights are intended to aid buyers and sellers in making informed decisions and optimizing pricing strategies. </a:t>
            </a:r>
          </a:p>
          <a:p>
            <a:endParaRPr lang="en-US" dirty="0"/>
          </a:p>
          <a:p>
            <a:r>
              <a:rPr lang="en-US" dirty="0"/>
              <a:t>The data was sourced from car24 platforms using Python-based web scraping techniques to extract detailed datasets for analysis.</a:t>
            </a:r>
          </a:p>
          <a:p>
            <a:endParaRPr lang="en-US" dirty="0"/>
          </a:p>
        </p:txBody>
      </p:sp>
    </p:spTree>
    <p:extLst>
      <p:ext uri="{BB962C8B-B14F-4D97-AF65-F5344CB8AC3E}">
        <p14:creationId xmlns:p14="http://schemas.microsoft.com/office/powerpoint/2010/main" val="549458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1C96-4941-43C6-9D7E-1B069110B630}"/>
              </a:ext>
            </a:extLst>
          </p:cNvPr>
          <p:cNvSpPr>
            <a:spLocks noGrp="1"/>
          </p:cNvSpPr>
          <p:nvPr>
            <p:ph type="title"/>
          </p:nvPr>
        </p:nvSpPr>
        <p:spPr/>
        <p:txBody>
          <a:bodyPr/>
          <a:lstStyle/>
          <a:p>
            <a:r>
              <a:rPr lang="en-US" sz="3200" dirty="0"/>
              <a:t>Main</a:t>
            </a:r>
            <a:r>
              <a:rPr lang="en-US" dirty="0"/>
              <a:t> </a:t>
            </a:r>
            <a:r>
              <a:rPr lang="en-US" sz="3200" dirty="0"/>
              <a:t>Agenda</a:t>
            </a:r>
            <a:endParaRPr lang="en-IN" sz="3200" dirty="0"/>
          </a:p>
        </p:txBody>
      </p:sp>
      <p:sp>
        <p:nvSpPr>
          <p:cNvPr id="3" name="Content Placeholder 2">
            <a:extLst>
              <a:ext uri="{FF2B5EF4-FFF2-40B4-BE49-F238E27FC236}">
                <a16:creationId xmlns:a16="http://schemas.microsoft.com/office/drawing/2014/main" id="{2AE45398-196E-4212-9CFB-73BBA8C261B8}"/>
              </a:ext>
            </a:extLst>
          </p:cNvPr>
          <p:cNvSpPr>
            <a:spLocks noGrp="1"/>
          </p:cNvSpPr>
          <p:nvPr>
            <p:ph idx="1"/>
          </p:nvPr>
        </p:nvSpPr>
        <p:spPr>
          <a:xfrm>
            <a:off x="913795" y="1740838"/>
            <a:ext cx="10353762" cy="4058751"/>
          </a:xfrm>
        </p:spPr>
        <p:txBody>
          <a:bodyPr>
            <a:normAutofit/>
          </a:bodyPr>
          <a:lstStyle/>
          <a:p>
            <a:pPr>
              <a:buSzPct val="80000"/>
              <a:buFont typeface="+mj-lt"/>
              <a:buAutoNum type="arabicPeriod"/>
            </a:pPr>
            <a:r>
              <a:rPr lang="en-US" dirty="0"/>
              <a:t>Web Scraping to collect the data</a:t>
            </a:r>
          </a:p>
          <a:p>
            <a:pPr>
              <a:buFont typeface="+mj-lt"/>
              <a:buAutoNum type="arabicPeriod"/>
            </a:pPr>
            <a:endParaRPr lang="en-US" dirty="0"/>
          </a:p>
          <a:p>
            <a:pPr>
              <a:buSzPct val="80000"/>
              <a:buFont typeface="+mj-lt"/>
              <a:buAutoNum type="arabicPeriod"/>
            </a:pPr>
            <a:r>
              <a:rPr lang="en-US" dirty="0"/>
              <a:t>Data Cleaning and Manipulation</a:t>
            </a:r>
          </a:p>
          <a:p>
            <a:pPr>
              <a:buFont typeface="+mj-lt"/>
              <a:buAutoNum type="arabicPeriod"/>
            </a:pPr>
            <a:endParaRPr lang="en-US" dirty="0"/>
          </a:p>
          <a:p>
            <a:pPr>
              <a:buSzPct val="80000"/>
              <a:buFont typeface="+mj-lt"/>
              <a:buAutoNum type="arabicPeriod"/>
            </a:pPr>
            <a:r>
              <a:rPr lang="en-US" dirty="0"/>
              <a:t>Visualization and Analysis of various factors like Mileage, Brand, Age, and Price to address key market trends and consumer preferences.</a:t>
            </a:r>
          </a:p>
          <a:p>
            <a:pPr marL="36900" indent="0">
              <a:buNone/>
            </a:pPr>
            <a:r>
              <a:rPr lang="en-US" dirty="0"/>
              <a:t>	 An in-depth exploration of web scraping and data visualization using Python, focusing on 	retrieving data on used cars across various regions. This project highlights the power of 	extracting, analyzing, and visualizing data to provide actionable insights into the used car	 	market.</a:t>
            </a:r>
          </a:p>
          <a:p>
            <a:pPr marL="0" indent="0">
              <a:buNone/>
            </a:pPr>
            <a:endParaRPr lang="en-IN" dirty="0"/>
          </a:p>
        </p:txBody>
      </p:sp>
    </p:spTree>
    <p:extLst>
      <p:ext uri="{BB962C8B-B14F-4D97-AF65-F5344CB8AC3E}">
        <p14:creationId xmlns:p14="http://schemas.microsoft.com/office/powerpoint/2010/main" val="4218897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39F8-9151-45ED-8011-9159EA083359}"/>
              </a:ext>
            </a:extLst>
          </p:cNvPr>
          <p:cNvSpPr>
            <a:spLocks noGrp="1"/>
          </p:cNvSpPr>
          <p:nvPr>
            <p:ph type="title"/>
          </p:nvPr>
        </p:nvSpPr>
        <p:spPr>
          <a:xfrm>
            <a:off x="3724103" y="0"/>
            <a:ext cx="4187687" cy="1431235"/>
          </a:xfrm>
        </p:spPr>
        <p:txBody>
          <a:bodyPr/>
          <a:lstStyle/>
          <a:p>
            <a:r>
              <a:rPr lang="en-US" sz="3200" dirty="0"/>
              <a:t>Tools Used </a:t>
            </a:r>
            <a:r>
              <a:rPr lang="en-US" dirty="0"/>
              <a:t>:-</a:t>
            </a:r>
            <a:endParaRPr lang="en-IN" dirty="0"/>
          </a:p>
        </p:txBody>
      </p:sp>
      <p:sp>
        <p:nvSpPr>
          <p:cNvPr id="3" name="Content Placeholder 2">
            <a:extLst>
              <a:ext uri="{FF2B5EF4-FFF2-40B4-BE49-F238E27FC236}">
                <a16:creationId xmlns:a16="http://schemas.microsoft.com/office/drawing/2014/main" id="{40260A0E-F110-4B08-8413-30C4AC6D45BC}"/>
              </a:ext>
            </a:extLst>
          </p:cNvPr>
          <p:cNvSpPr>
            <a:spLocks noGrp="1"/>
          </p:cNvSpPr>
          <p:nvPr>
            <p:ph idx="1"/>
          </p:nvPr>
        </p:nvSpPr>
        <p:spPr>
          <a:xfrm>
            <a:off x="914399" y="1232452"/>
            <a:ext cx="10353157" cy="5493026"/>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Software Requirement:-</a:t>
            </a:r>
          </a:p>
          <a:p>
            <a:pPr marL="0" indent="0">
              <a:buNone/>
            </a:pPr>
            <a:r>
              <a:rPr lang="en-US" dirty="0">
                <a:latin typeface="Times New Roman" panose="02020603050405020304" pitchFamily="18" charset="0"/>
                <a:cs typeface="Times New Roman" panose="02020603050405020304" pitchFamily="18" charset="0"/>
              </a:rPr>
              <a:t>1)Python( Jupyter notebook)</a:t>
            </a:r>
          </a:p>
          <a:p>
            <a:pPr marL="0" indent="0">
              <a:buNone/>
            </a:pPr>
            <a:r>
              <a:rPr lang="en-US" dirty="0">
                <a:latin typeface="Times New Roman" panose="02020603050405020304" pitchFamily="18" charset="0"/>
                <a:cs typeface="Times New Roman" panose="02020603050405020304" pitchFamily="18" charset="0"/>
              </a:rPr>
              <a:t>2)Power bi</a:t>
            </a:r>
          </a:p>
          <a:p>
            <a:pPr marL="0" indent="0">
              <a:buNone/>
            </a:pPr>
            <a:r>
              <a:rPr lang="en-US" dirty="0">
                <a:latin typeface="Times New Roman" panose="02020603050405020304" pitchFamily="18" charset="0"/>
                <a:cs typeface="Times New Roman" panose="02020603050405020304" pitchFamily="18" charset="0"/>
              </a:rPr>
              <a:t>3)Excel</a:t>
            </a:r>
          </a:p>
          <a:p>
            <a:endParaRPr lang="en-US" dirty="0"/>
          </a:p>
          <a:p>
            <a:pPr marL="0" indent="0">
              <a:buNone/>
            </a:pPr>
            <a:r>
              <a:rPr lang="en-US" dirty="0">
                <a:latin typeface="Times New Roman" panose="02020603050405020304" pitchFamily="18" charset="0"/>
                <a:cs typeface="Times New Roman" panose="02020603050405020304" pitchFamily="18" charset="0"/>
              </a:rPr>
              <a:t>Main Software Libraries:-</a:t>
            </a:r>
          </a:p>
          <a:p>
            <a:pPr marL="0" indent="0">
              <a:buNone/>
            </a:pPr>
            <a:r>
              <a:rPr lang="en-US" dirty="0">
                <a:latin typeface="Times New Roman" panose="02020603050405020304" pitchFamily="18" charset="0"/>
                <a:cs typeface="Times New Roman" panose="02020603050405020304" pitchFamily="18" charset="0"/>
              </a:rPr>
              <a:t>1)Pandas</a:t>
            </a:r>
          </a:p>
          <a:p>
            <a:pPr marL="0" indent="0">
              <a:buNone/>
            </a:pPr>
            <a:r>
              <a:rPr lang="en-US" dirty="0">
                <a:latin typeface="Times New Roman" panose="02020603050405020304" pitchFamily="18" charset="0"/>
                <a:cs typeface="Times New Roman" panose="02020603050405020304" pitchFamily="18" charset="0"/>
              </a:rPr>
              <a:t>2)Numpy</a:t>
            </a:r>
          </a:p>
          <a:p>
            <a:pPr marL="0" indent="0">
              <a:buNone/>
            </a:pPr>
            <a:r>
              <a:rPr lang="en-US" dirty="0">
                <a:latin typeface="Times New Roman" panose="02020603050405020304" pitchFamily="18" charset="0"/>
                <a:cs typeface="Times New Roman" panose="02020603050405020304" pitchFamily="18" charset="0"/>
              </a:rPr>
              <a:t>3)Beautiful Soups</a:t>
            </a:r>
          </a:p>
          <a:p>
            <a:pPr marL="0" indent="0">
              <a:buNone/>
            </a:pPr>
            <a:r>
              <a:rPr lang="en-US" dirty="0">
                <a:latin typeface="Times New Roman" panose="02020603050405020304" pitchFamily="18" charset="0"/>
                <a:cs typeface="Times New Roman" panose="02020603050405020304" pitchFamily="18" charset="0"/>
              </a:rPr>
              <a:t>4)Requests</a:t>
            </a:r>
          </a:p>
          <a:p>
            <a:pPr marL="0" indent="0">
              <a:buNone/>
            </a:pPr>
            <a:r>
              <a:rPr lang="en-US" dirty="0">
                <a:latin typeface="Times New Roman" panose="02020603050405020304" pitchFamily="18" charset="0"/>
                <a:cs typeface="Times New Roman" panose="02020603050405020304" pitchFamily="18" charset="0"/>
              </a:rPr>
              <a:t>5)CSV</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44750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546F-D4B3-483E-B35A-C5F6E82D51B4}"/>
              </a:ext>
            </a:extLst>
          </p:cNvPr>
          <p:cNvSpPr>
            <a:spLocks noGrp="1"/>
          </p:cNvSpPr>
          <p:nvPr>
            <p:ph type="title"/>
          </p:nvPr>
        </p:nvSpPr>
        <p:spPr>
          <a:xfrm>
            <a:off x="550573" y="383098"/>
            <a:ext cx="11090853" cy="1326321"/>
          </a:xfrm>
        </p:spPr>
        <p:txBody>
          <a:bodyPr>
            <a:normAutofit/>
          </a:bodyPr>
          <a:lstStyle/>
          <a:p>
            <a:r>
              <a:rPr lang="en-US" sz="3200" dirty="0"/>
              <a:t>INTRODUCTION </a:t>
            </a:r>
            <a:r>
              <a:rPr lang="en-US" dirty="0"/>
              <a:t>:-</a:t>
            </a:r>
            <a:endParaRPr lang="en-IN" dirty="0"/>
          </a:p>
        </p:txBody>
      </p:sp>
      <p:sp>
        <p:nvSpPr>
          <p:cNvPr id="3" name="Content Placeholder 2">
            <a:extLst>
              <a:ext uri="{FF2B5EF4-FFF2-40B4-BE49-F238E27FC236}">
                <a16:creationId xmlns:a16="http://schemas.microsoft.com/office/drawing/2014/main" id="{1F5872C4-E254-4885-A62E-A63BEA29289F}"/>
              </a:ext>
            </a:extLst>
          </p:cNvPr>
          <p:cNvSpPr>
            <a:spLocks noGrp="1"/>
          </p:cNvSpPr>
          <p:nvPr>
            <p:ph idx="1"/>
          </p:nvPr>
        </p:nvSpPr>
        <p:spPr>
          <a:xfrm>
            <a:off x="849111" y="2009345"/>
            <a:ext cx="10233887" cy="4041913"/>
          </a:xfrm>
        </p:spPr>
        <p:txBody>
          <a:bodyPr>
            <a:normAutofit fontScale="92500" lnSpcReduction="10000"/>
          </a:bodyPr>
          <a:lstStyle/>
          <a:p>
            <a:pPr>
              <a:buFont typeface="Wingdings" panose="05000000000000000000" pitchFamily="2" charset="2"/>
              <a:buChar char="Ø"/>
            </a:pPr>
            <a:r>
              <a:rPr lang="en-US" dirty="0">
                <a:solidFill>
                  <a:schemeClr val="accent1">
                    <a:lumMod val="60000"/>
                    <a:lumOff val="40000"/>
                  </a:schemeClr>
                </a:solidFill>
              </a:rPr>
              <a:t>Overview of project</a:t>
            </a:r>
            <a:r>
              <a:rPr lang="en-IN" dirty="0">
                <a:solidFill>
                  <a:schemeClr val="accent1">
                    <a:lumMod val="60000"/>
                    <a:lumOff val="40000"/>
                  </a:schemeClr>
                </a:solidFill>
              </a:rPr>
              <a:t>:-</a:t>
            </a:r>
          </a:p>
          <a:p>
            <a:r>
              <a:rPr lang="en-US" dirty="0">
                <a:latin typeface="Times New Roman" panose="02020603050405020304" pitchFamily="18" charset="0"/>
                <a:cs typeface="Times New Roman" panose="02020603050405020304" pitchFamily="18" charset="0"/>
              </a:rPr>
              <a:t>	</a:t>
            </a:r>
            <a:r>
              <a:rPr lang="en-US" dirty="0"/>
              <a:t>This project focuses on analyzing used car data through web scraping, data cleaning, modeling, and preprocessing using Python, followed by data visualization in Power BI.</a:t>
            </a:r>
          </a:p>
          <a:p>
            <a:endParaRPr lang="en-US" dirty="0"/>
          </a:p>
          <a:p>
            <a:pPr>
              <a:buFont typeface="Wingdings" panose="05000000000000000000" pitchFamily="2" charset="2"/>
              <a:buChar char="Ø"/>
            </a:pPr>
            <a:r>
              <a:rPr lang="en-US" b="1" dirty="0">
                <a:solidFill>
                  <a:schemeClr val="accent1">
                    <a:lumMod val="60000"/>
                    <a:lumOff val="40000"/>
                  </a:schemeClr>
                </a:solidFill>
              </a:rPr>
              <a:t>Importance of Analyzing Used Car Data </a:t>
            </a:r>
            <a:r>
              <a:rPr lang="en-US" b="1" dirty="0">
                <a:solidFill>
                  <a:srgbClr val="FF726D"/>
                </a:solidFill>
                <a:latin typeface="Times New Roman" panose="02020603050405020304" pitchFamily="18" charset="0"/>
                <a:ea typeface="Inconsolata" pitchFamily="34" charset="-122"/>
                <a:cs typeface="Times New Roman" panose="02020603050405020304" pitchFamily="18" charset="0"/>
              </a:rPr>
              <a:t>:-</a:t>
            </a:r>
          </a:p>
          <a:p>
            <a:pPr marL="0" indent="0">
              <a:buNone/>
            </a:pPr>
            <a:r>
              <a:rPr lang="en-US" dirty="0"/>
              <a:t>Understanding used car data is critical to identifying market trends, analyzing price structures, consumer preferences, and the impact of different car features on pricing.</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chemeClr val="accent1">
                    <a:lumMod val="60000"/>
                    <a:lumOff val="40000"/>
                  </a:schemeClr>
                </a:solidFill>
                <a:latin typeface="Times New Roman" panose="02020603050405020304" pitchFamily="18" charset="0"/>
                <a:ea typeface="Inconsolata" pitchFamily="34" charset="-122"/>
                <a:cs typeface="Times New Roman" panose="02020603050405020304" pitchFamily="18" charset="0"/>
              </a:rPr>
              <a:t>Importance of web scraping and data preprocessing and data visualization:-</a:t>
            </a:r>
          </a:p>
          <a:p>
            <a:r>
              <a:rPr lang="en-US" b="1" dirty="0">
                <a:latin typeface="Times New Roman" panose="02020603050405020304" pitchFamily="18" charset="0"/>
                <a:ea typeface="Inconsolata" pitchFamily="34" charset="-122"/>
                <a:cs typeface="Times New Roman" panose="02020603050405020304" pitchFamily="18" charset="0"/>
              </a:rPr>
              <a:t> </a:t>
            </a:r>
            <a:r>
              <a:rPr lang="en-US" dirty="0"/>
              <a:t>Visualization tools like Power BI make complex datasets easier to understand and communicate, enabling data-driven decision-making.</a:t>
            </a:r>
          </a:p>
          <a:p>
            <a:endParaRPr lang="en-IN" dirty="0"/>
          </a:p>
        </p:txBody>
      </p:sp>
    </p:spTree>
    <p:extLst>
      <p:ext uri="{BB962C8B-B14F-4D97-AF65-F5344CB8AC3E}">
        <p14:creationId xmlns:p14="http://schemas.microsoft.com/office/powerpoint/2010/main" val="1629130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3460A-CE6F-40D8-9DCD-1E56551CF12B}"/>
              </a:ext>
            </a:extLst>
          </p:cNvPr>
          <p:cNvSpPr>
            <a:spLocks noGrp="1"/>
          </p:cNvSpPr>
          <p:nvPr>
            <p:ph type="title"/>
          </p:nvPr>
        </p:nvSpPr>
        <p:spPr>
          <a:xfrm>
            <a:off x="648261" y="242916"/>
            <a:ext cx="11004701" cy="937136"/>
          </a:xfrm>
        </p:spPr>
        <p:txBody>
          <a:bodyPr>
            <a:normAutofit/>
          </a:bodyPr>
          <a:lstStyle/>
          <a:p>
            <a:r>
              <a:rPr lang="en-IN" sz="3200" dirty="0"/>
              <a:t>WEB SCRAPING :-</a:t>
            </a:r>
          </a:p>
        </p:txBody>
      </p:sp>
      <p:sp>
        <p:nvSpPr>
          <p:cNvPr id="3" name="Content Placeholder 2">
            <a:extLst>
              <a:ext uri="{FF2B5EF4-FFF2-40B4-BE49-F238E27FC236}">
                <a16:creationId xmlns:a16="http://schemas.microsoft.com/office/drawing/2014/main" id="{C81C00D5-5947-4A80-BC40-F210F755F514}"/>
              </a:ext>
            </a:extLst>
          </p:cNvPr>
          <p:cNvSpPr>
            <a:spLocks noGrp="1"/>
          </p:cNvSpPr>
          <p:nvPr>
            <p:ph idx="1"/>
          </p:nvPr>
        </p:nvSpPr>
        <p:spPr>
          <a:xfrm>
            <a:off x="1033669" y="1524000"/>
            <a:ext cx="10233887" cy="4267200"/>
          </a:xfrm>
        </p:spPr>
        <p:txBody>
          <a:bodyPr/>
          <a:lstStyle/>
          <a:p>
            <a:pPr>
              <a:buFont typeface="Wingdings" panose="05000000000000000000" pitchFamily="2" charset="2"/>
              <a:buChar char="Ø"/>
            </a:pPr>
            <a:r>
              <a:rPr lang="en-IN" dirty="0"/>
              <a:t>Step 1</a:t>
            </a:r>
            <a:r>
              <a:rPr lang="en-US" dirty="0">
                <a:latin typeface="Times New Roman" panose="02020603050405020304" pitchFamily="18" charset="0"/>
                <a:ea typeface="Fira Sans" pitchFamily="34" charset="-122"/>
                <a:cs typeface="Times New Roman" panose="02020603050405020304" pitchFamily="18" charset="0"/>
              </a:rPr>
              <a:t>:- IMPORT LIBRARIES</a:t>
            </a:r>
            <a:r>
              <a:rPr lang="en-US" dirty="0">
                <a:solidFill>
                  <a:srgbClr val="FF6680"/>
                </a:solidFill>
                <a:latin typeface="Times New Roman" panose="02020603050405020304" pitchFamily="18" charset="0"/>
                <a:ea typeface="Fira Sans" pitchFamily="34" charset="-122"/>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ea typeface="Fira Sans" pitchFamily="34" charset="-122"/>
                <a:cs typeface="Times New Roman" panose="02020603050405020304" pitchFamily="18" charset="0"/>
              </a:rPr>
              <a:t>import csv      </a:t>
            </a:r>
            <a:r>
              <a:rPr lang="en-US" dirty="0">
                <a:solidFill>
                  <a:srgbClr val="FF726D"/>
                </a:solidFill>
                <a:latin typeface="Times New Roman" panose="02020603050405020304" pitchFamily="18" charset="0"/>
                <a:ea typeface="Fira Sans" pitchFamily="34" charset="-122"/>
                <a:cs typeface="Times New Roman" panose="02020603050405020304" pitchFamily="18" charset="0"/>
              </a:rPr>
              <a:t># CSV file handling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ea typeface="Fira Sans" pitchFamily="34" charset="-122"/>
                <a:cs typeface="Times New Roman" panose="02020603050405020304" pitchFamily="18" charset="0"/>
              </a:rPr>
              <a:t>import requests     </a:t>
            </a:r>
            <a:r>
              <a:rPr lang="en-US" dirty="0">
                <a:solidFill>
                  <a:srgbClr val="FF726D"/>
                </a:solidFill>
                <a:latin typeface="Times New Roman" panose="02020603050405020304" pitchFamily="18" charset="0"/>
                <a:ea typeface="Fira Sans" pitchFamily="34" charset="-122"/>
                <a:cs typeface="Times New Roman" panose="02020603050405020304" pitchFamily="18" charset="0"/>
              </a:rPr>
              <a:t># HTTP requests :-web scraping or interacting with web</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ea typeface="Fira Sans" pitchFamily="34" charset="-122"/>
                <a:cs typeface="Times New Roman" panose="02020603050405020304" pitchFamily="18" charset="0"/>
              </a:rPr>
              <a:t>import pandas as pd     </a:t>
            </a:r>
            <a:r>
              <a:rPr lang="en-US" dirty="0">
                <a:solidFill>
                  <a:srgbClr val="FF6680"/>
                </a:solidFill>
                <a:latin typeface="Times New Roman" panose="02020603050405020304" pitchFamily="18" charset="0"/>
                <a:ea typeface="Fira Sans" pitchFamily="34" charset="-122"/>
                <a:cs typeface="Times New Roman" panose="02020603050405020304" pitchFamily="18" charset="0"/>
              </a:rPr>
              <a:t># Data manipulation using pandas.</a:t>
            </a:r>
          </a:p>
          <a:p>
            <a:r>
              <a:rPr lang="en-US" dirty="0">
                <a:latin typeface="Times New Roman" panose="02020603050405020304" pitchFamily="18" charset="0"/>
                <a:ea typeface="Fira Sans" pitchFamily="34" charset="-122"/>
                <a:cs typeface="Times New Roman" panose="02020603050405020304" pitchFamily="18" charset="0"/>
              </a:rPr>
              <a:t>from bs4 import Beautiful Soup      </a:t>
            </a:r>
            <a:r>
              <a:rPr lang="en-US" dirty="0">
                <a:solidFill>
                  <a:srgbClr val="FF6680"/>
                </a:solidFill>
                <a:latin typeface="Times New Roman" panose="02020603050405020304" pitchFamily="18" charset="0"/>
                <a:ea typeface="Fira Sans" pitchFamily="34" charset="-122"/>
                <a:cs typeface="Times New Roman" panose="02020603050405020304" pitchFamily="18" charset="0"/>
              </a:rPr>
              <a:t># HTML parsing using Beautifulsoup :-pulling data out of HTML and XML files and searching and modifying phrase tree</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79280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2EBD-6B77-4D5A-8999-3C2ED2724336}"/>
              </a:ext>
            </a:extLst>
          </p:cNvPr>
          <p:cNvSpPr>
            <a:spLocks noGrp="1"/>
          </p:cNvSpPr>
          <p:nvPr>
            <p:ph type="title"/>
          </p:nvPr>
        </p:nvSpPr>
        <p:spPr>
          <a:xfrm flipH="1">
            <a:off x="12099234" y="1"/>
            <a:ext cx="92765" cy="119270"/>
          </a:xfrm>
        </p:spPr>
        <p:txBody>
          <a:bodyPr>
            <a:normAutofit fontScale="90000"/>
          </a:bodyPr>
          <a:lstStyle/>
          <a:p>
            <a:r>
              <a:rPr lang="en-US" sz="800" dirty="0"/>
              <a:t>.</a:t>
            </a:r>
            <a:endParaRPr lang="en-IN" sz="800" dirty="0"/>
          </a:p>
        </p:txBody>
      </p:sp>
      <p:sp>
        <p:nvSpPr>
          <p:cNvPr id="3" name="Content Placeholder 2">
            <a:extLst>
              <a:ext uri="{FF2B5EF4-FFF2-40B4-BE49-F238E27FC236}">
                <a16:creationId xmlns:a16="http://schemas.microsoft.com/office/drawing/2014/main" id="{61791C27-818C-4B40-BBCE-5C88EBD77732}"/>
              </a:ext>
            </a:extLst>
          </p:cNvPr>
          <p:cNvSpPr>
            <a:spLocks noGrp="1"/>
          </p:cNvSpPr>
          <p:nvPr>
            <p:ph idx="1"/>
          </p:nvPr>
        </p:nvSpPr>
        <p:spPr>
          <a:xfrm>
            <a:off x="424069" y="357809"/>
            <a:ext cx="11410121" cy="6281530"/>
          </a:xfrm>
        </p:spPr>
        <p:txBody>
          <a:bodyPr>
            <a:normAutofit/>
          </a:bodyPr>
          <a:lstStyle/>
          <a:p>
            <a:pPr>
              <a:buFont typeface="Wingdings" panose="05000000000000000000" pitchFamily="2" charset="2"/>
              <a:buChar char="Ø"/>
            </a:pPr>
            <a:r>
              <a:rPr lang="en-IN" dirty="0"/>
              <a:t>Step 2</a:t>
            </a:r>
            <a:r>
              <a:rPr lang="en-US" dirty="0">
                <a:latin typeface="Times New Roman" panose="02020603050405020304" pitchFamily="18" charset="0"/>
                <a:cs typeface="Times New Roman" panose="02020603050405020304" pitchFamily="18" charset="0"/>
              </a:rPr>
              <a:t>:- URL</a:t>
            </a:r>
          </a:p>
          <a:p>
            <a:pPr>
              <a:lnSpc>
                <a:spcPts val="1425"/>
              </a:lnSpc>
            </a:pPr>
            <a:r>
              <a:rPr lang="en-IN" dirty="0">
                <a:latin typeface="Times New Roman" panose="02020603050405020304" pitchFamily="18" charset="0"/>
                <a:cs typeface="Times New Roman" panose="02020603050405020304" pitchFamily="18" charset="0"/>
              </a:rPr>
              <a:t>Web </a:t>
            </a:r>
            <a:r>
              <a:rPr lang="en-US" b="0" dirty="0">
                <a:solidFill>
                  <a:srgbClr val="CCCCCC"/>
                </a:solidFill>
                <a:effectLst/>
                <a:latin typeface="Consolas" panose="020B0609020204030204" pitchFamily="49" charset="0"/>
              </a:rPr>
              <a:t>url</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"https://www.cars24.com/buy-used-cars-				</a:t>
            </a:r>
          </a:p>
          <a:p>
            <a:pPr marL="36900" indent="0">
              <a:lnSpc>
                <a:spcPts val="1425"/>
              </a:lnSpc>
              <a:buNone/>
            </a:pPr>
            <a:r>
              <a:rPr lang="en-US" dirty="0">
                <a:solidFill>
                  <a:srgbClr val="CE9178"/>
                </a:solidFill>
                <a:effectLst/>
                <a:latin typeface="Consolas" panose="020B0609020204030204" pitchFamily="49" charset="0"/>
              </a:rPr>
              <a:t>			 </a:t>
            </a:r>
            <a:r>
              <a:rPr lang="en-US" b="0" dirty="0">
                <a:solidFill>
                  <a:srgbClr val="CE9178"/>
                </a:solidFill>
                <a:effectLst/>
                <a:latin typeface="Consolas" panose="020B0609020204030204" pitchFamily="49" charset="0"/>
              </a:rPr>
              <a:t>patna/?sort=bestmatch&amp;serveWarrantyCount=true&amp;storeCityId=8184"</a:t>
            </a:r>
            <a:endParaRPr lang="en-US" b="0" dirty="0">
              <a:solidFill>
                <a:srgbClr val="CCCCCC"/>
              </a:solidFill>
              <a:effectLst/>
              <a:latin typeface="Consolas" panose="020B0609020204030204" pitchFamily="49"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a:t>Step 3</a:t>
            </a:r>
            <a:r>
              <a:rPr lang="en-IN" dirty="0">
                <a:latin typeface="Times New Roman" panose="02020603050405020304" pitchFamily="18" charset="0"/>
                <a:cs typeface="Times New Roman" panose="02020603050405020304" pitchFamily="18" charset="0"/>
              </a:rPr>
              <a:t>:- CHECKING THE ACCESS OF URL</a:t>
            </a:r>
          </a:p>
          <a:p>
            <a:pPr marL="36900" indent="0">
              <a:lnSpc>
                <a:spcPts val="1425"/>
              </a:lnSpc>
              <a:buNone/>
            </a:pPr>
            <a:r>
              <a:rPr lang="en-US" dirty="0">
                <a:solidFill>
                  <a:srgbClr val="6A9955"/>
                </a:solidFill>
                <a:effectLst/>
                <a:latin typeface="Consolas" panose="020B0609020204030204" pitchFamily="49" charset="0"/>
              </a:rPr>
              <a:t>	</a:t>
            </a:r>
            <a:r>
              <a:rPr lang="en-US" b="0" dirty="0">
                <a:solidFill>
                  <a:srgbClr val="6A9955"/>
                </a:solidFill>
                <a:effectLst/>
                <a:latin typeface="Consolas" panose="020B0609020204030204" pitchFamily="49" charset="0"/>
              </a:rPr>
              <a:t># Define headers to mimic a web browser</a:t>
            </a:r>
            <a:endParaRPr lang="en-US" b="0" dirty="0">
              <a:solidFill>
                <a:srgbClr val="CCCCCC"/>
              </a:solidFill>
              <a:effectLst/>
              <a:latin typeface="Consolas" panose="020B0609020204030204" pitchFamily="49" charset="0"/>
            </a:endParaRPr>
          </a:p>
          <a:p>
            <a:pPr>
              <a:lnSpc>
                <a:spcPts val="1425"/>
              </a:lnSpc>
            </a:pPr>
            <a:r>
              <a:rPr lang="en-US" b="0" dirty="0">
                <a:solidFill>
                  <a:srgbClr val="9CDCFE"/>
                </a:solidFill>
                <a:effectLst/>
                <a:latin typeface="Consolas" panose="020B0609020204030204" pitchFamily="49" charset="0"/>
              </a:rPr>
              <a:t>headers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"User-Agent"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"Mozilla/5.0 (Windows NT 10.0; Win64; x64)</a:t>
            </a:r>
          </a:p>
          <a:p>
            <a:pPr marL="36900" indent="0">
              <a:lnSpc>
                <a:spcPts val="1425"/>
              </a:lnSpc>
              <a:buNone/>
            </a:pPr>
            <a:r>
              <a:rPr lang="en-US" dirty="0">
                <a:solidFill>
                  <a:srgbClr val="CE9178"/>
                </a:solidFill>
                <a:effectLst/>
                <a:latin typeface="Consolas" panose="020B0609020204030204" pitchFamily="49" charset="0"/>
              </a:rPr>
              <a:t>		 </a:t>
            </a:r>
            <a:r>
              <a:rPr lang="en-US" b="0" dirty="0">
                <a:solidFill>
                  <a:srgbClr val="CE9178"/>
                </a:solidFill>
                <a:effectLst/>
                <a:latin typeface="Consolas" panose="020B0609020204030204" pitchFamily="49" charset="0"/>
              </a:rPr>
              <a:t>AppleWebKit/537.36 (KHTML, like Gecko) Chrome/96.0.4664.110</a:t>
            </a:r>
          </a:p>
          <a:p>
            <a:pPr marL="450000" lvl="1" indent="0">
              <a:lnSpc>
                <a:spcPts val="1425"/>
              </a:lnSpc>
              <a:buNone/>
            </a:pPr>
            <a:r>
              <a:rPr lang="en-US" dirty="0">
                <a:solidFill>
                  <a:srgbClr val="CE9178"/>
                </a:solidFill>
                <a:effectLst/>
                <a:latin typeface="Consolas" panose="020B0609020204030204" pitchFamily="49" charset="0"/>
              </a:rPr>
              <a:t>	   </a:t>
            </a:r>
            <a:r>
              <a:rPr lang="en-US" b="0" dirty="0">
                <a:solidFill>
                  <a:srgbClr val="CE9178"/>
                </a:solidFill>
                <a:effectLst/>
                <a:latin typeface="Consolas" panose="020B0609020204030204" pitchFamily="49" charset="0"/>
              </a:rPr>
              <a:t>  Safari/537.36"</a:t>
            </a:r>
            <a:r>
              <a:rPr lang="en-US" b="0" dirty="0">
                <a:solidFill>
                  <a:srgbClr val="CCCCCC"/>
                </a:solidFill>
                <a:effectLst/>
                <a:latin typeface="Consolas" panose="020B0609020204030204" pitchFamily="49" charset="0"/>
              </a:rPr>
              <a:t>,</a:t>
            </a:r>
          </a:p>
          <a:p>
            <a:pPr>
              <a:lnSpc>
                <a:spcPts val="1425"/>
              </a:lnSpc>
            </a:pPr>
            <a:endParaRPr lang="en-US" b="0" dirty="0">
              <a:solidFill>
                <a:srgbClr val="CCCCCC"/>
              </a:solidFill>
              <a:effectLst/>
              <a:latin typeface="Consolas" panose="020B0609020204030204" pitchFamily="49" charset="0"/>
            </a:endParaRPr>
          </a:p>
          <a:p>
            <a:pPr marL="36900" indent="0">
              <a:lnSpc>
                <a:spcPts val="1425"/>
              </a:lnSpc>
              <a:buNone/>
            </a:pPr>
            <a:r>
              <a:rPr lang="en-US" dirty="0">
                <a:solidFill>
                  <a:srgbClr val="CCCCCC"/>
                </a:solidFill>
                <a:effectLst/>
                <a:latin typeface="Consolas" panose="020B0609020204030204" pitchFamily="49" charset="0"/>
              </a:rPr>
              <a:t>	</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"Referer"</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"https://www.cars24.com/buy-used-cars</a:t>
            </a:r>
          </a:p>
          <a:p>
            <a:pPr marL="450000" lvl="1" indent="0">
              <a:lnSpc>
                <a:spcPts val="1425"/>
              </a:lnSpc>
              <a:buNone/>
            </a:pPr>
            <a:r>
              <a:rPr lang="en-US" dirty="0">
                <a:solidFill>
                  <a:srgbClr val="CE9178"/>
                </a:solidFill>
                <a:effectLst/>
                <a:latin typeface="Consolas" panose="020B0609020204030204" pitchFamily="49" charset="0"/>
              </a:rPr>
              <a:t>		</a:t>
            </a:r>
            <a:r>
              <a:rPr lang="en-US" b="0" dirty="0">
                <a:solidFill>
                  <a:srgbClr val="CE9178"/>
                </a:solidFill>
                <a:effectLst/>
                <a:latin typeface="Consolas" panose="020B0609020204030204" pitchFamily="49" charset="0"/>
              </a:rPr>
              <a:t>-patna/?sort=bestmatch&amp;serveWarrantyCount=true&amp;storeCityId=8184"</a:t>
            </a:r>
            <a:endParaRPr lang="en-US" b="0" dirty="0">
              <a:solidFill>
                <a:srgbClr val="CCCCCC"/>
              </a:solidFill>
              <a:effectLst/>
              <a:latin typeface="Consolas" panose="020B0609020204030204" pitchFamily="49" charset="0"/>
            </a:endParaRPr>
          </a:p>
          <a:p>
            <a:pPr marL="36900" indent="0">
              <a:lnSpc>
                <a:spcPts val="1425"/>
              </a:lnSpc>
              <a:buNone/>
            </a:pPr>
            <a:r>
              <a:rPr lang="en-US" b="0" dirty="0">
                <a:solidFill>
                  <a:srgbClr val="CCCCCC"/>
                </a:solidFill>
                <a:effectLst/>
                <a:latin typeface="Consolas" panose="020B0609020204030204" pitchFamily="49" charset="0"/>
              </a:rPr>
              <a:t>}</a:t>
            </a:r>
          </a:p>
          <a:p>
            <a:pPr marL="36900" indent="0">
              <a:lnSpc>
                <a:spcPts val="1425"/>
              </a:lnSpc>
              <a:buNone/>
            </a:pPr>
            <a:r>
              <a:rPr lang="en-US" b="0" dirty="0">
                <a:solidFill>
                  <a:srgbClr val="CCCCCC"/>
                </a:solidFill>
                <a:effectLst/>
                <a:latin typeface="Consolas" panose="020B0609020204030204" pitchFamily="49" charset="0"/>
              </a:rPr>
              <a:t>	</a:t>
            </a: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try</a:t>
            </a:r>
            <a:r>
              <a:rPr lang="en-US" b="0" dirty="0">
                <a:solidFill>
                  <a:srgbClr val="CCCCCC"/>
                </a:solidFill>
                <a:effectLst/>
                <a:latin typeface="Consolas" panose="020B0609020204030204" pitchFamily="49" charset="0"/>
              </a:rPr>
              <a:t>:</a:t>
            </a: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Send a GET request with the defined headers</a:t>
            </a:r>
            <a:endParaRPr lang="en-US" b="0" dirty="0">
              <a:solidFill>
                <a:srgbClr val="CCCCCC"/>
              </a:solidFill>
              <a:effectLst/>
              <a:latin typeface="Consolas" panose="020B0609020204030204" pitchFamily="49" charset="0"/>
            </a:endParaRP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response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requests</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get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url</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headers</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headers</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048923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47B2-8AB4-4895-9448-F63BA1DC94FD}"/>
              </a:ext>
            </a:extLst>
          </p:cNvPr>
          <p:cNvSpPr>
            <a:spLocks noGrp="1"/>
          </p:cNvSpPr>
          <p:nvPr>
            <p:ph type="title"/>
          </p:nvPr>
        </p:nvSpPr>
        <p:spPr>
          <a:xfrm flipH="1" flipV="1">
            <a:off x="11860696" y="1"/>
            <a:ext cx="331304" cy="318051"/>
          </a:xfrm>
        </p:spPr>
        <p:txBody>
          <a:bodyPr>
            <a:normAutofit/>
          </a:bodyPr>
          <a:lstStyle/>
          <a:p>
            <a:r>
              <a:rPr lang="en-US" sz="800" dirty="0"/>
              <a:t>.</a:t>
            </a:r>
            <a:endParaRPr lang="en-IN" sz="800" dirty="0"/>
          </a:p>
        </p:txBody>
      </p:sp>
      <p:sp>
        <p:nvSpPr>
          <p:cNvPr id="3" name="Content Placeholder 2">
            <a:extLst>
              <a:ext uri="{FF2B5EF4-FFF2-40B4-BE49-F238E27FC236}">
                <a16:creationId xmlns:a16="http://schemas.microsoft.com/office/drawing/2014/main" id="{3B1297C4-BAB7-44A9-9217-EB4CE57862E5}"/>
              </a:ext>
            </a:extLst>
          </p:cNvPr>
          <p:cNvSpPr>
            <a:spLocks noGrp="1"/>
          </p:cNvSpPr>
          <p:nvPr>
            <p:ph idx="1"/>
          </p:nvPr>
        </p:nvSpPr>
        <p:spPr>
          <a:xfrm>
            <a:off x="516835" y="662609"/>
            <a:ext cx="10750722" cy="5128591"/>
          </a:xfrm>
        </p:spPr>
        <p:txBody>
          <a:bodyPr>
            <a:normAutofit/>
          </a:bodyPr>
          <a:lstStyle/>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Check if the request was successful (status code 200)</a:t>
            </a:r>
            <a:endParaRPr lang="en-US" sz="1600" b="0" dirty="0">
              <a:solidFill>
                <a:srgbClr val="CCCCCC"/>
              </a:solidFill>
              <a:effectLst/>
              <a:latin typeface="Consolas" panose="020B0609020204030204" pitchFamily="49" charset="0"/>
            </a:endParaRPr>
          </a:p>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C586C0"/>
                </a:solidFill>
                <a:effectLst/>
                <a:latin typeface="Consolas" panose="020B0609020204030204" pitchFamily="49" charset="0"/>
              </a:rPr>
              <a:t>if</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response</a:t>
            </a:r>
            <a:r>
              <a:rPr lang="en-US" sz="1600" b="0" dirty="0">
                <a:solidFill>
                  <a:srgbClr val="CCCCCC"/>
                </a:solidFill>
                <a:effectLst/>
                <a:latin typeface="Consolas" panose="020B0609020204030204" pitchFamily="49" charset="0"/>
              </a:rPr>
              <a:t>.</a:t>
            </a:r>
            <a:r>
              <a:rPr lang="en-US" sz="1600" b="0" dirty="0">
                <a:solidFill>
                  <a:srgbClr val="9CDCFE"/>
                </a:solidFill>
                <a:effectLst/>
                <a:latin typeface="Consolas" panose="020B0609020204030204" pitchFamily="49" charset="0"/>
              </a:rPr>
              <a:t>status_code</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a:solidFill>
                  <a:srgbClr val="B5CEA8"/>
                </a:solidFill>
                <a:effectLst/>
                <a:latin typeface="Consolas" panose="020B0609020204030204" pitchFamily="49" charset="0"/>
              </a:rPr>
              <a:t>200</a:t>
            </a:r>
            <a:r>
              <a:rPr lang="en-US" sz="1600" b="0" dirty="0">
                <a:solidFill>
                  <a:srgbClr val="CCCCCC"/>
                </a:solidFill>
                <a:effectLst/>
                <a:latin typeface="Consolas" panose="020B0609020204030204" pitchFamily="49" charset="0"/>
              </a:rPr>
              <a:t>:</a:t>
            </a:r>
          </a:p>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DCDCAA"/>
                </a:solidFill>
                <a:effectLst/>
                <a:latin typeface="Consolas" panose="020B0609020204030204" pitchFamily="49" charset="0"/>
              </a:rPr>
              <a:t>print</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"Access Granted. Status Code:"</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response</a:t>
            </a:r>
            <a:r>
              <a:rPr lang="en-US" sz="1600" b="0" dirty="0">
                <a:solidFill>
                  <a:srgbClr val="CCCCCC"/>
                </a:solidFill>
                <a:effectLst/>
                <a:latin typeface="Consolas" panose="020B0609020204030204" pitchFamily="49" charset="0"/>
              </a:rPr>
              <a:t>.</a:t>
            </a:r>
            <a:r>
              <a:rPr lang="en-US" sz="1600" b="0" dirty="0">
                <a:solidFill>
                  <a:srgbClr val="9CDCFE"/>
                </a:solidFill>
                <a:effectLst/>
                <a:latin typeface="Consolas" panose="020B0609020204030204" pitchFamily="49" charset="0"/>
              </a:rPr>
              <a:t>status_code</a:t>
            </a:r>
            <a:r>
              <a:rPr lang="en-US" sz="1600" b="0" dirty="0">
                <a:solidFill>
                  <a:srgbClr val="CCCCCC"/>
                </a:solidFill>
                <a:effectLst/>
                <a:latin typeface="Consolas" panose="020B0609020204030204" pitchFamily="49" charset="0"/>
              </a:rPr>
              <a:t>)</a:t>
            </a:r>
          </a:p>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If you need to do something with the webpage content, you can access it using 	response.text</a:t>
            </a:r>
            <a:endParaRPr lang="en-US" sz="1600" b="0" dirty="0">
              <a:solidFill>
                <a:srgbClr val="CCCCCC"/>
              </a:solidFill>
              <a:effectLst/>
              <a:latin typeface="Consolas" panose="020B0609020204030204" pitchFamily="49" charset="0"/>
            </a:endParaRPr>
          </a:p>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print(response.text)  # Uncomment this line to see the webpage content</a:t>
            </a:r>
            <a:endParaRPr lang="en-US" sz="1600" b="0" dirty="0">
              <a:solidFill>
                <a:srgbClr val="CCCCCC"/>
              </a:solidFill>
              <a:effectLst/>
              <a:latin typeface="Consolas" panose="020B0609020204030204" pitchFamily="49" charset="0"/>
            </a:endParaRPr>
          </a:p>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C586C0"/>
                </a:solidFill>
                <a:effectLst/>
                <a:latin typeface="Consolas" panose="020B0609020204030204" pitchFamily="49" charset="0"/>
              </a:rPr>
              <a:t>else</a:t>
            </a:r>
            <a:r>
              <a:rPr lang="en-US" sz="1600" b="0" dirty="0">
                <a:solidFill>
                  <a:srgbClr val="CCCCCC"/>
                </a:solidFill>
                <a:effectLst/>
                <a:latin typeface="Consolas" panose="020B0609020204030204" pitchFamily="49" charset="0"/>
              </a:rPr>
              <a:t>:</a:t>
            </a:r>
          </a:p>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DCDCAA"/>
                </a:solidFill>
                <a:effectLst/>
                <a:latin typeface="Consolas" panose="020B0609020204030204" pitchFamily="49" charset="0"/>
              </a:rPr>
              <a:t>print</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"Unexpected Status Code:"</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response</a:t>
            </a:r>
            <a:r>
              <a:rPr lang="en-US" sz="1600" b="0" dirty="0">
                <a:solidFill>
                  <a:srgbClr val="CCCCCC"/>
                </a:solidFill>
                <a:effectLst/>
                <a:latin typeface="Consolas" panose="020B0609020204030204" pitchFamily="49" charset="0"/>
              </a:rPr>
              <a:t>.</a:t>
            </a:r>
            <a:r>
              <a:rPr lang="en-US" sz="1600" b="0" dirty="0">
                <a:solidFill>
                  <a:srgbClr val="9CDCFE"/>
                </a:solidFill>
                <a:effectLst/>
                <a:latin typeface="Consolas" panose="020B0609020204030204" pitchFamily="49" charset="0"/>
              </a:rPr>
              <a:t>status_code</a:t>
            </a:r>
            <a:r>
              <a:rPr lang="en-US" sz="1600" b="0" dirty="0">
                <a:solidFill>
                  <a:srgbClr val="CCCCCC"/>
                </a:solidFill>
                <a:effectLst/>
                <a:latin typeface="Consolas" panose="020B0609020204030204" pitchFamily="49" charset="0"/>
              </a:rPr>
              <a:t>)</a:t>
            </a:r>
          </a:p>
          <a:p>
            <a:pPr marL="36900" indent="0">
              <a:lnSpc>
                <a:spcPts val="1425"/>
              </a:lnSpc>
              <a:buNone/>
            </a:pPr>
            <a:br>
              <a:rPr lang="en-US" sz="1600" b="0" dirty="0">
                <a:solidFill>
                  <a:srgbClr val="CCCCCC"/>
                </a:solidFill>
                <a:effectLst/>
                <a:latin typeface="Consolas" panose="020B0609020204030204" pitchFamily="49" charset="0"/>
              </a:rPr>
            </a:br>
            <a:r>
              <a:rPr lang="en-US" sz="1600" b="0" dirty="0">
                <a:solidFill>
                  <a:srgbClr val="C586C0"/>
                </a:solidFill>
                <a:effectLst/>
                <a:latin typeface="Consolas" panose="020B0609020204030204" pitchFamily="49" charset="0"/>
              </a:rPr>
              <a:t>except</a:t>
            </a:r>
            <a:r>
              <a:rPr lang="en-US" sz="1600" b="0" dirty="0">
                <a:solidFill>
                  <a:srgbClr val="CCCCCC"/>
                </a:solidFill>
                <a:effectLst/>
                <a:latin typeface="Consolas" panose="020B0609020204030204" pitchFamily="49" charset="0"/>
              </a:rPr>
              <a:t> </a:t>
            </a:r>
            <a:r>
              <a:rPr lang="en-US" sz="1600" b="0" dirty="0">
                <a:solidFill>
                  <a:srgbClr val="4EC9B0"/>
                </a:solidFill>
                <a:effectLst/>
                <a:latin typeface="Consolas" panose="020B0609020204030204" pitchFamily="49" charset="0"/>
              </a:rPr>
              <a:t>requests</a:t>
            </a:r>
            <a:r>
              <a:rPr lang="en-US" sz="1600" b="0" dirty="0">
                <a:solidFill>
                  <a:srgbClr val="CCCCCC"/>
                </a:solidFill>
                <a:effectLst/>
                <a:latin typeface="Consolas" panose="020B0609020204030204" pitchFamily="49" charset="0"/>
              </a:rPr>
              <a:t>.</a:t>
            </a:r>
            <a:r>
              <a:rPr lang="en-US" sz="1600" b="0" dirty="0">
                <a:solidFill>
                  <a:srgbClr val="4EC9B0"/>
                </a:solidFill>
                <a:effectLst/>
                <a:latin typeface="Consolas" panose="020B0609020204030204" pitchFamily="49" charset="0"/>
              </a:rPr>
              <a:t>exceptions</a:t>
            </a:r>
            <a:r>
              <a:rPr lang="en-US" sz="1600" b="0" dirty="0">
                <a:solidFill>
                  <a:srgbClr val="CCCCCC"/>
                </a:solidFill>
                <a:effectLst/>
                <a:latin typeface="Consolas" panose="020B0609020204030204" pitchFamily="49" charset="0"/>
              </a:rPr>
              <a:t>.</a:t>
            </a:r>
            <a:r>
              <a:rPr lang="en-US" sz="1600" b="0" dirty="0">
                <a:solidFill>
                  <a:srgbClr val="4EC9B0"/>
                </a:solidFill>
                <a:effectLst/>
                <a:latin typeface="Consolas" panose="020B0609020204030204" pitchFamily="49" charset="0"/>
              </a:rPr>
              <a:t>RequestException</a:t>
            </a:r>
            <a:r>
              <a:rPr lang="en-US" sz="1600" b="0" dirty="0">
                <a:solidFill>
                  <a:srgbClr val="CCCCCC"/>
                </a:solidFill>
                <a:effectLst/>
                <a:latin typeface="Consolas" panose="020B0609020204030204" pitchFamily="49" charset="0"/>
              </a:rPr>
              <a:t> </a:t>
            </a:r>
            <a:r>
              <a:rPr lang="en-US" sz="1600" b="0" dirty="0">
                <a:solidFill>
                  <a:srgbClr val="C586C0"/>
                </a:solidFill>
                <a:effectLst/>
                <a:latin typeface="Consolas" panose="020B0609020204030204" pitchFamily="49" charset="0"/>
              </a:rPr>
              <a:t>as</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e</a:t>
            </a:r>
            <a:r>
              <a:rPr lang="en-US" sz="1600" b="0" dirty="0">
                <a:solidFill>
                  <a:srgbClr val="CCCCCC"/>
                </a:solidFill>
                <a:effectLst/>
                <a:latin typeface="Consolas" panose="020B0609020204030204" pitchFamily="49" charset="0"/>
              </a:rPr>
              <a:t>:</a:t>
            </a:r>
          </a:p>
          <a:p>
            <a:pPr marL="36900"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DCDCAA"/>
                </a:solidFill>
                <a:effectLst/>
                <a:latin typeface="Consolas" panose="020B0609020204030204" pitchFamily="49" charset="0"/>
              </a:rPr>
              <a:t>print</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"Error:"</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e</a:t>
            </a:r>
            <a:r>
              <a:rPr lang="en-US" sz="16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076576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719C7-35E4-4798-A9D2-8310B4C0A9F7}"/>
              </a:ext>
            </a:extLst>
          </p:cNvPr>
          <p:cNvSpPr>
            <a:spLocks noGrp="1"/>
          </p:cNvSpPr>
          <p:nvPr>
            <p:ph type="title"/>
          </p:nvPr>
        </p:nvSpPr>
        <p:spPr>
          <a:xfrm flipH="1" flipV="1">
            <a:off x="12026900" y="1"/>
            <a:ext cx="165100" cy="215899"/>
          </a:xfrm>
        </p:spPr>
        <p:txBody>
          <a:bodyPr>
            <a:normAutofit/>
          </a:bodyPr>
          <a:lstStyle/>
          <a:p>
            <a:r>
              <a:rPr lang="en-US" sz="800" dirty="0"/>
              <a:t>.</a:t>
            </a:r>
            <a:endParaRPr lang="en-IN" sz="800" dirty="0"/>
          </a:p>
        </p:txBody>
      </p:sp>
      <p:sp>
        <p:nvSpPr>
          <p:cNvPr id="3" name="Content Placeholder 2">
            <a:extLst>
              <a:ext uri="{FF2B5EF4-FFF2-40B4-BE49-F238E27FC236}">
                <a16:creationId xmlns:a16="http://schemas.microsoft.com/office/drawing/2014/main" id="{5A777F23-E30C-4088-956A-9F9D41A3B7F2}"/>
              </a:ext>
            </a:extLst>
          </p:cNvPr>
          <p:cNvSpPr>
            <a:spLocks noGrp="1"/>
          </p:cNvSpPr>
          <p:nvPr>
            <p:ph idx="1"/>
          </p:nvPr>
        </p:nvSpPr>
        <p:spPr>
          <a:xfrm>
            <a:off x="550411" y="356182"/>
            <a:ext cx="10708757" cy="6396956"/>
          </a:xfrm>
        </p:spPr>
        <p:txBody>
          <a:bodyPr>
            <a:noAutofit/>
          </a:bodyPr>
          <a:lstStyle/>
          <a:p>
            <a:pPr>
              <a:buFont typeface="Wingdings" panose="05000000000000000000" pitchFamily="2" charset="2"/>
              <a:buChar char="Ø"/>
            </a:pPr>
            <a:r>
              <a:rPr lang="en-IN" dirty="0"/>
              <a:t>Step 4</a:t>
            </a:r>
            <a:r>
              <a:rPr lang="en-US" dirty="0">
                <a:latin typeface="Times New Roman" panose="02020603050405020304" pitchFamily="18" charset="0"/>
                <a:cs typeface="Times New Roman" panose="02020603050405020304" pitchFamily="18" charset="0"/>
              </a:rPr>
              <a:t>:-  Requests and beautiful soup</a:t>
            </a:r>
          </a:p>
          <a:p>
            <a:pPr>
              <a:lnSpc>
                <a:spcPts val="1425"/>
              </a:lnSpc>
            </a:pPr>
            <a:r>
              <a:rPr lang="en-US" b="0" dirty="0">
                <a:solidFill>
                  <a:srgbClr val="9CDCFE"/>
                </a:solidFill>
                <a:effectLst/>
                <a:latin typeface="Consolas" panose="020B0609020204030204" pitchFamily="49" charset="0"/>
              </a:rPr>
              <a:t>r</a:t>
            </a:r>
            <a:r>
              <a:rPr lang="en-US" b="0" dirty="0">
                <a:solidFill>
                  <a:srgbClr val="D4D4D4"/>
                </a:solidFill>
                <a:effectLst/>
                <a:latin typeface="Consolas" panose="020B0609020204030204" pitchFamily="49" charset="0"/>
              </a:rPr>
              <a:t>=</a:t>
            </a:r>
            <a:r>
              <a:rPr lang="en-US" b="0" dirty="0">
                <a:solidFill>
                  <a:srgbClr val="4EC9B0"/>
                </a:solidFill>
                <a:effectLst/>
                <a:latin typeface="Consolas" panose="020B0609020204030204" pitchFamily="49" charset="0"/>
              </a:rPr>
              <a:t>requests</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get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"https://www.cars24.com/buy-used-cars</a:t>
            </a:r>
          </a:p>
          <a:p>
            <a:pPr marL="36900" indent="0">
              <a:lnSpc>
                <a:spcPts val="1425"/>
              </a:lnSpc>
              <a:buNone/>
            </a:pPr>
            <a:r>
              <a:rPr lang="en-US" dirty="0">
                <a:solidFill>
                  <a:srgbClr val="CE9178"/>
                </a:solidFill>
                <a:effectLst/>
                <a:latin typeface="Consolas" panose="020B0609020204030204" pitchFamily="49" charset="0"/>
              </a:rPr>
              <a:t>	 </a:t>
            </a:r>
            <a:r>
              <a:rPr lang="en-US" b="0" dirty="0">
                <a:solidFill>
                  <a:srgbClr val="CE9178"/>
                </a:solidFill>
                <a:effectLst/>
                <a:latin typeface="Consolas" panose="020B0609020204030204" pitchFamily="49" charset="0"/>
              </a:rPr>
              <a:t>-patna/?sort=bestmatch&amp;serveWarrantyCount=true&amp;storeCityId=8184"</a:t>
            </a:r>
            <a:r>
              <a:rPr lang="en-US" b="0" dirty="0">
                <a:solidFill>
                  <a:srgbClr val="CCCCCC"/>
                </a:solidFill>
                <a:effectLst/>
                <a:latin typeface="Consolas" panose="020B0609020204030204" pitchFamily="49" charset="0"/>
              </a:rPr>
              <a:t>)</a:t>
            </a:r>
          </a:p>
          <a:p>
            <a:pPr>
              <a:lnSpc>
                <a:spcPts val="1425"/>
              </a:lnSpc>
            </a:pPr>
            <a:r>
              <a:rPr lang="fr-FR" b="0" dirty="0">
                <a:solidFill>
                  <a:srgbClr val="9CDCFE"/>
                </a:solidFill>
                <a:effectLst/>
                <a:latin typeface="Consolas" panose="020B0609020204030204" pitchFamily="49" charset="0"/>
              </a:rPr>
              <a:t>soup</a:t>
            </a:r>
            <a:r>
              <a:rPr lang="fr-FR" b="0" dirty="0">
                <a:solidFill>
                  <a:srgbClr val="D4D4D4"/>
                </a:solidFill>
                <a:effectLst/>
                <a:latin typeface="Consolas" panose="020B0609020204030204" pitchFamily="49" charset="0"/>
              </a:rPr>
              <a:t>=</a:t>
            </a:r>
            <a:r>
              <a:rPr lang="fr-FR" b="0" dirty="0">
                <a:solidFill>
                  <a:srgbClr val="4EC9B0"/>
                </a:solidFill>
                <a:effectLst/>
                <a:latin typeface="Consolas" panose="020B0609020204030204" pitchFamily="49" charset="0"/>
              </a:rPr>
              <a:t>BeautifulSoup</a:t>
            </a:r>
            <a:r>
              <a:rPr lang="fr-FR" b="0" dirty="0">
                <a:solidFill>
                  <a:srgbClr val="CCCCCC"/>
                </a:solidFill>
                <a:effectLst/>
                <a:latin typeface="Consolas" panose="020B0609020204030204" pitchFamily="49" charset="0"/>
              </a:rPr>
              <a:t>(</a:t>
            </a:r>
            <a:r>
              <a:rPr lang="fr-FR" b="0" dirty="0">
                <a:solidFill>
                  <a:srgbClr val="9CDCFE"/>
                </a:solidFill>
                <a:effectLst/>
                <a:latin typeface="Consolas" panose="020B0609020204030204" pitchFamily="49" charset="0"/>
              </a:rPr>
              <a:t>r</a:t>
            </a:r>
            <a:r>
              <a:rPr lang="fr-FR" b="0" dirty="0">
                <a:solidFill>
                  <a:srgbClr val="CCCCCC"/>
                </a:solidFill>
                <a:effectLst/>
                <a:latin typeface="Consolas" panose="020B0609020204030204" pitchFamily="49" charset="0"/>
              </a:rPr>
              <a:t>.</a:t>
            </a:r>
            <a:r>
              <a:rPr lang="fr-FR" b="0" dirty="0">
                <a:solidFill>
                  <a:srgbClr val="9CDCFE"/>
                </a:solidFill>
                <a:effectLst/>
                <a:latin typeface="Consolas" panose="020B0609020204030204" pitchFamily="49" charset="0"/>
              </a:rPr>
              <a:t>content</a:t>
            </a:r>
            <a:r>
              <a:rPr lang="fr-FR" b="0" dirty="0">
                <a:solidFill>
                  <a:srgbClr val="CCCCCC"/>
                </a:solidFill>
                <a:effectLst/>
                <a:latin typeface="Consolas" panose="020B0609020204030204" pitchFamily="49" charset="0"/>
              </a:rPr>
              <a:t>,</a:t>
            </a:r>
            <a:r>
              <a:rPr lang="fr-FR" b="0" dirty="0">
                <a:solidFill>
                  <a:srgbClr val="CE9178"/>
                </a:solidFill>
                <a:effectLst/>
                <a:latin typeface="Consolas" panose="020B0609020204030204" pitchFamily="49" charset="0"/>
              </a:rPr>
              <a:t>'html.parser'</a:t>
            </a:r>
            <a:r>
              <a:rPr lang="fr-FR" b="0" dirty="0">
                <a:solidFill>
                  <a:srgbClr val="CCCCCC"/>
                </a:solidFill>
                <a:effectLst/>
                <a:latin typeface="Consolas" panose="020B0609020204030204" pitchFamily="49" charset="0"/>
              </a:rPr>
              <a:t>)</a:t>
            </a:r>
          </a:p>
          <a:p>
            <a:pPr>
              <a:lnSpc>
                <a:spcPts val="1425"/>
              </a:lnSpc>
            </a:pPr>
            <a:r>
              <a:rPr lang="fr-FR" b="0" dirty="0">
                <a:solidFill>
                  <a:srgbClr val="9CDCFE"/>
                </a:solidFill>
                <a:effectLst/>
                <a:latin typeface="Consolas" panose="020B0609020204030204" pitchFamily="49" charset="0"/>
              </a:rPr>
              <a:t>soup</a:t>
            </a:r>
          </a:p>
          <a:p>
            <a:pPr>
              <a:lnSpc>
                <a:spcPts val="1425"/>
              </a:lnSpc>
            </a:pPr>
            <a:endParaRPr lang="fr-FR" b="0" dirty="0">
              <a:solidFill>
                <a:srgbClr val="CCCCCC"/>
              </a:solidFill>
              <a:effectLst/>
              <a:latin typeface="Consolas" panose="020B0609020204030204" pitchFamily="49" charset="0"/>
            </a:endParaRPr>
          </a:p>
          <a:p>
            <a:pPr>
              <a:buFont typeface="Wingdings" panose="05000000000000000000" pitchFamily="2" charset="2"/>
              <a:buChar char="Ø"/>
            </a:pPr>
            <a:r>
              <a:rPr lang="en-IN" dirty="0"/>
              <a:t>Step 5</a:t>
            </a:r>
            <a:r>
              <a:rPr lang="en-US" dirty="0">
                <a:cs typeface="Times New Roman" panose="02020603050405020304" pitchFamily="18" charset="0"/>
              </a:rPr>
              <a:t>:- column </a:t>
            </a:r>
            <a:r>
              <a:rPr lang="en-US" dirty="0">
                <a:latin typeface="Times New Roman" panose="02020603050405020304" pitchFamily="18" charset="0"/>
                <a:cs typeface="Times New Roman" panose="02020603050405020304" pitchFamily="18" charset="0"/>
              </a:rPr>
              <a:t>names and extracting data through classes</a:t>
            </a:r>
          </a:p>
          <a:p>
            <a:pPr>
              <a:lnSpc>
                <a:spcPts val="1425"/>
              </a:lnSpc>
            </a:pPr>
            <a:r>
              <a:rPr lang="en-US" b="0" dirty="0">
                <a:solidFill>
                  <a:srgbClr val="9CDCFE"/>
                </a:solidFill>
                <a:effectLst/>
                <a:latin typeface="Consolas" panose="020B0609020204030204" pitchFamily="49" charset="0"/>
              </a:rPr>
              <a:t>brand</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soup</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find_all</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'h3'</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class_</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'_2Out2'</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fuel_type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soup</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find_all</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ul</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class_</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'_3jRcd'</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price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soup</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find_all</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'strong'</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class_</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'_37WXy'</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city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soup</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find_all</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'p'</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class_</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'_2rxhF'</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emi</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soup</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find_all</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'span'</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class_</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'_1t1AA'</a:t>
            </a:r>
            <a:r>
              <a:rPr lang="en-US" b="0" dirty="0">
                <a:solidFill>
                  <a:srgbClr val="CCCCCC"/>
                </a:solidFill>
                <a:effectLst/>
                <a:latin typeface="Consolas" panose="020B0609020204030204" pitchFamily="49" charset="0"/>
              </a:rPr>
              <a:t>)</a:t>
            </a: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buFont typeface="Wingdings" panose="05000000000000000000" pitchFamily="2" charset="2"/>
              <a:buChar char="Ø"/>
            </a:pPr>
            <a:r>
              <a:rPr lang="en-IN" dirty="0"/>
              <a:t>Step 6:- </a:t>
            </a:r>
            <a:r>
              <a:rPr lang="en-IN" dirty="0">
                <a:latin typeface="Times New Roman" panose="02020603050405020304" pitchFamily="18" charset="0"/>
                <a:cs typeface="Times New Roman" panose="02020603050405020304" pitchFamily="18" charset="0"/>
              </a:rPr>
              <a:t>Take empty lists</a:t>
            </a:r>
          </a:p>
          <a:p>
            <a:pPr>
              <a:lnSpc>
                <a:spcPts val="1425"/>
              </a:lnSpc>
            </a:pPr>
            <a:r>
              <a:rPr lang="en-US" b="0" dirty="0">
                <a:solidFill>
                  <a:srgbClr val="9CDCFE"/>
                </a:solidFill>
                <a:effectLst/>
                <a:latin typeface="Consolas" panose="020B0609020204030204" pitchFamily="49" charset="0"/>
              </a:rPr>
              <a:t>mb</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mf</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mp</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mc</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pPr>
            <a:r>
              <a:rPr lang="en-US" b="0" dirty="0">
                <a:solidFill>
                  <a:srgbClr val="9CDCFE"/>
                </a:solidFill>
                <a:effectLst/>
                <a:latin typeface="Consolas" panose="020B0609020204030204" pitchFamily="49" charset="0"/>
              </a:rPr>
              <a:t>me</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807261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3E58F-45B5-452A-BDC7-96B50BA570B4}"/>
              </a:ext>
            </a:extLst>
          </p:cNvPr>
          <p:cNvSpPr>
            <a:spLocks noGrp="1"/>
          </p:cNvSpPr>
          <p:nvPr>
            <p:ph type="title"/>
          </p:nvPr>
        </p:nvSpPr>
        <p:spPr>
          <a:xfrm flipH="1" flipV="1">
            <a:off x="11976100" y="1"/>
            <a:ext cx="215900" cy="88899"/>
          </a:xfrm>
        </p:spPr>
        <p:txBody>
          <a:bodyPr>
            <a:normAutofit fontScale="90000"/>
          </a:bodyPr>
          <a:lstStyle/>
          <a:p>
            <a:r>
              <a:rPr lang="en-US" sz="800" dirty="0"/>
              <a:t>.</a:t>
            </a:r>
            <a:endParaRPr lang="en-IN" sz="800" dirty="0"/>
          </a:p>
        </p:txBody>
      </p:sp>
      <p:sp>
        <p:nvSpPr>
          <p:cNvPr id="3" name="Content Placeholder 2">
            <a:extLst>
              <a:ext uri="{FF2B5EF4-FFF2-40B4-BE49-F238E27FC236}">
                <a16:creationId xmlns:a16="http://schemas.microsoft.com/office/drawing/2014/main" id="{7C979FDC-BB04-4D89-B8EB-82B03AAEC597}"/>
              </a:ext>
            </a:extLst>
          </p:cNvPr>
          <p:cNvSpPr>
            <a:spLocks noGrp="1"/>
          </p:cNvSpPr>
          <p:nvPr>
            <p:ph idx="1"/>
          </p:nvPr>
        </p:nvSpPr>
        <p:spPr>
          <a:xfrm>
            <a:off x="469900" y="546100"/>
            <a:ext cx="11379200" cy="6172200"/>
          </a:xfrm>
        </p:spPr>
        <p:txBody>
          <a:bodyPr>
            <a:normAutofit/>
          </a:bodyPr>
          <a:lstStyle/>
          <a:p>
            <a:pPr>
              <a:buFont typeface="Wingdings" panose="05000000000000000000" pitchFamily="2" charset="2"/>
              <a:buChar char="Ø"/>
            </a:pPr>
            <a:r>
              <a:rPr lang="en-IN" dirty="0"/>
              <a:t>Step 7</a:t>
            </a:r>
            <a:r>
              <a:rPr lang="en-US" dirty="0"/>
              <a:t>:- </a:t>
            </a:r>
            <a:r>
              <a:rPr lang="en-US" dirty="0">
                <a:latin typeface="Times New Roman" panose="02020603050405020304" pitchFamily="18" charset="0"/>
                <a:cs typeface="Times New Roman" panose="02020603050405020304" pitchFamily="18" charset="0"/>
              </a:rPr>
              <a:t>Append them in for loop</a:t>
            </a:r>
          </a:p>
          <a:p>
            <a:pPr marL="36900" indent="0">
              <a:buNone/>
            </a:pPr>
            <a:endParaRPr lang="en-US" dirty="0">
              <a:latin typeface="Times New Roman" panose="02020603050405020304" pitchFamily="18" charset="0"/>
              <a:cs typeface="Times New Roman" panose="02020603050405020304" pitchFamily="18" charset="0"/>
            </a:endParaRPr>
          </a:p>
          <a:p>
            <a:pPr marL="36900" indent="0">
              <a:lnSpc>
                <a:spcPts val="1425"/>
              </a:lnSpc>
              <a:buNone/>
            </a:pPr>
            <a:r>
              <a:rPr lang="en-US" b="0" dirty="0">
                <a:solidFill>
                  <a:srgbClr val="C586C0"/>
                </a:solidFill>
                <a:effectLst/>
                <a:latin typeface="Consolas" panose="020B0609020204030204" pitchFamily="49" charset="0"/>
              </a:rPr>
              <a:t>	for</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fuel</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pri</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cty</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emis</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zip</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brand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fuel_type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price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city</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emi</a:t>
            </a:r>
            <a:r>
              <a:rPr lang="en-US" b="0" dirty="0">
                <a:solidFill>
                  <a:srgbClr val="CCCCCC"/>
                </a:solidFill>
                <a:effectLst/>
                <a:latin typeface="Consolas" panose="020B0609020204030204" pitchFamily="49" charset="0"/>
              </a:rPr>
              <a:t>):</a:t>
            </a: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mb</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.text)</a:t>
            </a: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mf</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fuel</a:t>
            </a:r>
            <a:r>
              <a:rPr lang="en-US" b="0" dirty="0">
                <a:solidFill>
                  <a:srgbClr val="CCCCCC"/>
                </a:solidFill>
                <a:effectLst/>
                <a:latin typeface="Consolas" panose="020B0609020204030204" pitchFamily="49" charset="0"/>
              </a:rPr>
              <a:t>.text)</a:t>
            </a: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mp</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pri</a:t>
            </a:r>
            <a:r>
              <a:rPr lang="en-US" b="0" dirty="0">
                <a:solidFill>
                  <a:srgbClr val="CCCCCC"/>
                </a:solidFill>
                <a:effectLst/>
                <a:latin typeface="Consolas" panose="020B0609020204030204" pitchFamily="49" charset="0"/>
              </a:rPr>
              <a:t>.text)</a:t>
            </a: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mc</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cty</a:t>
            </a:r>
            <a:r>
              <a:rPr lang="en-US" b="0" dirty="0">
                <a:solidFill>
                  <a:srgbClr val="CCCCCC"/>
                </a:solidFill>
                <a:effectLst/>
                <a:latin typeface="Consolas" panose="020B0609020204030204" pitchFamily="49" charset="0"/>
              </a:rPr>
              <a:t>.text)</a:t>
            </a:r>
          </a:p>
          <a:p>
            <a:pPr marL="36900" indent="0">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me</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emis</a:t>
            </a:r>
            <a:r>
              <a:rPr lang="en-US" b="0" dirty="0">
                <a:solidFill>
                  <a:srgbClr val="CCCCCC"/>
                </a:solidFill>
                <a:effectLst/>
                <a:latin typeface="Consolas" panose="020B0609020204030204" pitchFamily="49" charset="0"/>
              </a:rPr>
              <a:t>.text)</a:t>
            </a:r>
          </a:p>
          <a:p>
            <a:pPr>
              <a:buFont typeface="Wingdings" panose="05000000000000000000" pitchFamily="2" charset="2"/>
              <a:buChar char="Ø"/>
            </a:pPr>
            <a:r>
              <a:rPr lang="en-IN" dirty="0"/>
              <a:t>Step 8</a:t>
            </a:r>
            <a:r>
              <a:rPr lang="en-US" dirty="0"/>
              <a:t>:- </a:t>
            </a:r>
            <a:r>
              <a:rPr lang="en-US" dirty="0">
                <a:latin typeface="Times New Roman" panose="02020603050405020304" pitchFamily="18" charset="0"/>
                <a:cs typeface="Times New Roman" panose="02020603050405020304" pitchFamily="18" charset="0"/>
              </a:rPr>
              <a:t>converting them into Dictionary</a:t>
            </a:r>
          </a:p>
          <a:p>
            <a:pPr marL="36900" indent="0">
              <a:buNone/>
            </a:pPr>
            <a:endParaRPr lang="en-US" dirty="0">
              <a:latin typeface="Times New Roman" panose="02020603050405020304" pitchFamily="18" charset="0"/>
              <a:cs typeface="Times New Roman" panose="02020603050405020304" pitchFamily="18" charset="0"/>
            </a:endParaRPr>
          </a:p>
          <a:p>
            <a:pPr marL="36900" indent="0">
              <a:lnSpc>
                <a:spcPts val="1425"/>
              </a:lnSpc>
              <a:buNone/>
            </a:pPr>
            <a:r>
              <a:rPr lang="en-US" b="0" dirty="0">
                <a:solidFill>
                  <a:srgbClr val="9CDCFE"/>
                </a:solidFill>
                <a:effectLst/>
                <a:latin typeface="Consolas" panose="020B0609020204030204" pitchFamily="49" charset="0"/>
              </a:rPr>
              <a:t>	info</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brandName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mb</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'fuel_type'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mf</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'cost'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mp</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'location'</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mc</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'emi'</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a:t>
            </a:r>
            <a:r>
              <a:rPr lang="en-US" b="0" dirty="0">
                <a:solidFill>
                  <a:srgbClr val="CCCCCC"/>
                </a:solidFill>
                <a:effectLst/>
                <a:latin typeface="Consolas" panose="020B0609020204030204" pitchFamily="49" charset="0"/>
              </a:rPr>
              <a:t>}</a:t>
            </a:r>
          </a:p>
          <a:p>
            <a:pPr marL="36900" indent="0">
              <a:lnSpc>
                <a:spcPts val="1425"/>
              </a:lnSpc>
              <a:buNone/>
            </a:pPr>
            <a:r>
              <a:rPr lang="en-US" b="0" dirty="0">
                <a:solidFill>
                  <a:srgbClr val="9CDCFE"/>
                </a:solidFill>
                <a:effectLst/>
                <a:latin typeface="Consolas" panose="020B0609020204030204" pitchFamily="49" charset="0"/>
              </a:rPr>
              <a:t>	info</a:t>
            </a:r>
            <a:endParaRPr lang="en-US" b="0" dirty="0">
              <a:solidFill>
                <a:srgbClr val="CCCCCC"/>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4281115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6321-45BD-4C37-B0AC-774A29676383}"/>
              </a:ext>
            </a:extLst>
          </p:cNvPr>
          <p:cNvSpPr>
            <a:spLocks noGrp="1"/>
          </p:cNvSpPr>
          <p:nvPr>
            <p:ph type="title"/>
          </p:nvPr>
        </p:nvSpPr>
        <p:spPr>
          <a:xfrm flipH="1" flipV="1">
            <a:off x="12146280" y="1"/>
            <a:ext cx="45719" cy="190499"/>
          </a:xfrm>
        </p:spPr>
        <p:txBody>
          <a:bodyPr>
            <a:normAutofit fontScale="90000"/>
          </a:bodyPr>
          <a:lstStyle/>
          <a:p>
            <a:r>
              <a:rPr lang="en-US" sz="800" dirty="0"/>
              <a:t>.</a:t>
            </a:r>
            <a:endParaRPr lang="en-IN" sz="800" dirty="0"/>
          </a:p>
        </p:txBody>
      </p:sp>
      <p:sp>
        <p:nvSpPr>
          <p:cNvPr id="3" name="Content Placeholder 2">
            <a:extLst>
              <a:ext uri="{FF2B5EF4-FFF2-40B4-BE49-F238E27FC236}">
                <a16:creationId xmlns:a16="http://schemas.microsoft.com/office/drawing/2014/main" id="{1F83AD99-4499-4B44-8AC2-48EB38748C03}"/>
              </a:ext>
            </a:extLst>
          </p:cNvPr>
          <p:cNvSpPr>
            <a:spLocks noGrp="1"/>
          </p:cNvSpPr>
          <p:nvPr>
            <p:ph idx="1"/>
          </p:nvPr>
        </p:nvSpPr>
        <p:spPr>
          <a:xfrm>
            <a:off x="558800" y="190500"/>
            <a:ext cx="10657957" cy="6375400"/>
          </a:xfrm>
        </p:spPr>
        <p:txBody>
          <a:bodyPr>
            <a:normAutofit/>
          </a:bodyPr>
          <a:lstStyle/>
          <a:p>
            <a:pPr marL="0" indent="0">
              <a:buNone/>
            </a:pPr>
            <a:endParaRPr lang="en-US" dirty="0"/>
          </a:p>
          <a:p>
            <a:pPr>
              <a:buFont typeface="Wingdings" panose="05000000000000000000" pitchFamily="2" charset="2"/>
              <a:buChar char="Ø"/>
            </a:pPr>
            <a:r>
              <a:rPr lang="en-IN" dirty="0"/>
              <a:t>Step 9</a:t>
            </a:r>
            <a:r>
              <a:rPr lang="en-US" dirty="0"/>
              <a:t>:- </a:t>
            </a:r>
            <a:r>
              <a:rPr lang="en-US" dirty="0">
                <a:latin typeface="Times New Roman" panose="02020603050405020304" pitchFamily="18" charset="0"/>
                <a:cs typeface="Times New Roman" panose="02020603050405020304" pitchFamily="18" charset="0"/>
              </a:rPr>
              <a:t>dictionary to data frames</a:t>
            </a:r>
          </a:p>
          <a:p>
            <a:pPr marL="3690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t>#converting dictionary into a data frames</a:t>
            </a:r>
          </a:p>
          <a:p>
            <a:pPr>
              <a:buFont typeface="Wingdings" panose="05000000000000000000" pitchFamily="2" charset="2"/>
              <a:buChar char="§"/>
            </a:pPr>
            <a:r>
              <a:rPr lang="en-US" dirty="0"/>
              <a:t>#creating csv file</a:t>
            </a:r>
          </a:p>
          <a:p>
            <a:pPr>
              <a:buFont typeface="Wingdings" panose="05000000000000000000" pitchFamily="2" charset="2"/>
              <a:buChar char="§"/>
            </a:pPr>
            <a:endParaRPr lang="en-US" dirty="0"/>
          </a:p>
          <a:p>
            <a:pPr marL="36900" indent="0">
              <a:lnSpc>
                <a:spcPts val="1425"/>
              </a:lnSpc>
              <a:buNone/>
            </a:pPr>
            <a:r>
              <a:rPr lang="en-US" b="0" dirty="0">
                <a:solidFill>
                  <a:srgbClr val="9CDCFE"/>
                </a:solidFill>
                <a:effectLst/>
                <a:latin typeface="Consolas" panose="020B0609020204030204" pitchFamily="49" charset="0"/>
              </a:rPr>
              <a:t>	model</a:t>
            </a:r>
            <a:r>
              <a:rPr lang="en-US" b="0" dirty="0">
                <a:solidFill>
                  <a:srgbClr val="D4D4D4"/>
                </a:solidFill>
                <a:effectLst/>
                <a:latin typeface="Consolas" panose="020B0609020204030204" pitchFamily="49" charset="0"/>
              </a:rPr>
              <a:t>=</a:t>
            </a:r>
            <a:r>
              <a:rPr lang="en-US" b="0" dirty="0">
                <a:solidFill>
                  <a:srgbClr val="4EC9B0"/>
                </a:solidFill>
                <a:effectLst/>
                <a:latin typeface="Consolas" panose="020B0609020204030204" pitchFamily="49" charset="0"/>
              </a:rPr>
              <a:t>pd</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DataFrame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data</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info</a:t>
            </a:r>
            <a:r>
              <a:rPr lang="en-US" b="0" dirty="0">
                <a:solidFill>
                  <a:srgbClr val="CCCCCC"/>
                </a:solidFill>
                <a:effectLst/>
                <a:latin typeface="Consolas" panose="020B0609020204030204" pitchFamily="49" charset="0"/>
              </a:rPr>
              <a:t>)</a:t>
            </a:r>
          </a:p>
          <a:p>
            <a:pPr marL="36900" indent="0">
              <a:lnSpc>
                <a:spcPts val="1425"/>
              </a:lnSpc>
              <a:buNone/>
            </a:pPr>
            <a:r>
              <a:rPr lang="en-US" b="0" dirty="0">
                <a:solidFill>
                  <a:srgbClr val="9CDCFE"/>
                </a:solidFill>
                <a:effectLst/>
                <a:latin typeface="Consolas" panose="020B0609020204030204" pitchFamily="49" charset="0"/>
              </a:rPr>
              <a:t>	model</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to_csv</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'used_cars_data info_patna_12.csv’</a:t>
            </a:r>
            <a:r>
              <a:rPr lang="en-US" b="0" dirty="0">
                <a:solidFill>
                  <a:srgbClr val="CCCCCC"/>
                </a:solidFill>
                <a:effectLst/>
                <a:latin typeface="Consolas" panose="020B0609020204030204" pitchFamily="49" charset="0"/>
              </a:rPr>
              <a:t>)</a:t>
            </a:r>
          </a:p>
          <a:p>
            <a:pPr marL="36900" indent="0">
              <a:lnSpc>
                <a:spcPts val="1425"/>
              </a:lnSpc>
              <a:buNone/>
            </a:pPr>
            <a:r>
              <a:rPr lang="en-US" b="0" dirty="0">
                <a:solidFill>
                  <a:srgbClr val="9CDCFE"/>
                </a:solidFill>
                <a:effectLst/>
                <a:latin typeface="Consolas" panose="020B0609020204030204" pitchFamily="49" charset="0"/>
              </a:rPr>
              <a:t>	model</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191260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C3145-FEBA-4E09-A49C-577E6679D21A}"/>
              </a:ext>
            </a:extLst>
          </p:cNvPr>
          <p:cNvSpPr>
            <a:spLocks noGrp="1"/>
          </p:cNvSpPr>
          <p:nvPr>
            <p:ph type="title"/>
          </p:nvPr>
        </p:nvSpPr>
        <p:spPr>
          <a:xfrm flipH="1">
            <a:off x="506659" y="212521"/>
            <a:ext cx="11178680" cy="693490"/>
          </a:xfrm>
        </p:spPr>
        <p:txBody>
          <a:bodyPr>
            <a:normAutofit/>
          </a:bodyPr>
          <a:lstStyle/>
          <a:p>
            <a:r>
              <a:rPr lang="en-US" sz="3200" dirty="0">
                <a:latin typeface="Times New Roman" panose="02020603050405020304" pitchFamily="18" charset="0"/>
                <a:cs typeface="Times New Roman" panose="02020603050405020304" pitchFamily="18" charset="0"/>
              </a:rPr>
              <a:t>OUTPUT</a:t>
            </a: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C1BC7D-C613-5682-CDC1-4F57ECA2D5D6}"/>
              </a:ext>
            </a:extLst>
          </p:cNvPr>
          <p:cNvPicPr>
            <a:picLocks noChangeAspect="1"/>
          </p:cNvPicPr>
          <p:nvPr/>
        </p:nvPicPr>
        <p:blipFill>
          <a:blip r:embed="rId2"/>
          <a:stretch>
            <a:fillRect/>
          </a:stretch>
        </p:blipFill>
        <p:spPr>
          <a:xfrm>
            <a:off x="1891717" y="1465453"/>
            <a:ext cx="8408565" cy="4729818"/>
          </a:xfrm>
          <a:prstGeom prst="rect">
            <a:avLst/>
          </a:prstGeom>
        </p:spPr>
      </p:pic>
    </p:spTree>
    <p:extLst>
      <p:ext uri="{BB962C8B-B14F-4D97-AF65-F5344CB8AC3E}">
        <p14:creationId xmlns:p14="http://schemas.microsoft.com/office/powerpoint/2010/main" val="3931374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B7757-E2F8-4E0D-87B2-F84C46D836D0}"/>
              </a:ext>
            </a:extLst>
          </p:cNvPr>
          <p:cNvSpPr>
            <a:spLocks noGrp="1"/>
          </p:cNvSpPr>
          <p:nvPr>
            <p:ph type="title"/>
          </p:nvPr>
        </p:nvSpPr>
        <p:spPr>
          <a:xfrm>
            <a:off x="781878" y="198783"/>
            <a:ext cx="10982648" cy="841452"/>
          </a:xfrm>
        </p:spPr>
        <p:txBody>
          <a:bodyPr/>
          <a:lstStyle/>
          <a:p>
            <a:r>
              <a:rPr lang="en-US" sz="3200" dirty="0"/>
              <a:t>DATA MANIPULATION </a:t>
            </a:r>
            <a:r>
              <a:rPr lang="en-US" dirty="0"/>
              <a:t>:-</a:t>
            </a:r>
            <a:endParaRPr lang="en-IN" dirty="0"/>
          </a:p>
        </p:txBody>
      </p:sp>
      <p:sp>
        <p:nvSpPr>
          <p:cNvPr id="3" name="Content Placeholder 2">
            <a:extLst>
              <a:ext uri="{FF2B5EF4-FFF2-40B4-BE49-F238E27FC236}">
                <a16:creationId xmlns:a16="http://schemas.microsoft.com/office/drawing/2014/main" id="{2ABF5459-64D3-411B-99D5-994D2C35806F}"/>
              </a:ext>
            </a:extLst>
          </p:cNvPr>
          <p:cNvSpPr>
            <a:spLocks noGrp="1"/>
          </p:cNvSpPr>
          <p:nvPr>
            <p:ph idx="1"/>
          </p:nvPr>
        </p:nvSpPr>
        <p:spPr>
          <a:xfrm>
            <a:off x="781878" y="1113183"/>
            <a:ext cx="10485679" cy="5546034"/>
          </a:xfrm>
        </p:spPr>
        <p:txBody>
          <a:bodyPr/>
          <a:lstStyle/>
          <a:p>
            <a:r>
              <a:rPr lang="en-US" dirty="0"/>
              <a:t>Data manipulation is the process of changing or adjusting data to make it more organized and easier to read.</a:t>
            </a:r>
          </a:p>
          <a:p>
            <a:r>
              <a:rPr lang="en-US" dirty="0"/>
              <a:t>First, we need to load the data into Power BI. </a:t>
            </a:r>
          </a:p>
          <a:p>
            <a:r>
              <a:rPr lang="en-US" dirty="0"/>
              <a:t>After that, we need to go to Table view and add new columns as per need, for eg. Price Segment.</a:t>
            </a:r>
          </a:p>
          <a:p>
            <a:r>
              <a:rPr lang="en-US" dirty="0"/>
              <a:t>In that column, we will give car budget range.</a:t>
            </a:r>
          </a:p>
        </p:txBody>
      </p:sp>
      <p:pic>
        <p:nvPicPr>
          <p:cNvPr id="8" name="Picture 7">
            <a:extLst>
              <a:ext uri="{FF2B5EF4-FFF2-40B4-BE49-F238E27FC236}">
                <a16:creationId xmlns:a16="http://schemas.microsoft.com/office/drawing/2014/main" id="{02ECC373-76E7-7AED-002D-0097244DEC69}"/>
              </a:ext>
            </a:extLst>
          </p:cNvPr>
          <p:cNvPicPr>
            <a:picLocks noChangeAspect="1"/>
          </p:cNvPicPr>
          <p:nvPr/>
        </p:nvPicPr>
        <p:blipFill>
          <a:blip r:embed="rId2"/>
          <a:stretch>
            <a:fillRect/>
          </a:stretch>
        </p:blipFill>
        <p:spPr>
          <a:xfrm>
            <a:off x="3397541" y="3468345"/>
            <a:ext cx="6608032" cy="3207649"/>
          </a:xfrm>
          <a:prstGeom prst="rect">
            <a:avLst/>
          </a:prstGeom>
        </p:spPr>
      </p:pic>
    </p:spTree>
    <p:extLst>
      <p:ext uri="{BB962C8B-B14F-4D97-AF65-F5344CB8AC3E}">
        <p14:creationId xmlns:p14="http://schemas.microsoft.com/office/powerpoint/2010/main" val="3573659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443D2-AEC3-4D5A-9045-3A23E0C935A0}"/>
              </a:ext>
            </a:extLst>
          </p:cNvPr>
          <p:cNvSpPr>
            <a:spLocks noGrp="1"/>
          </p:cNvSpPr>
          <p:nvPr>
            <p:ph type="title"/>
          </p:nvPr>
        </p:nvSpPr>
        <p:spPr>
          <a:xfrm flipH="1" flipV="1">
            <a:off x="11950700" y="1"/>
            <a:ext cx="241300" cy="126999"/>
          </a:xfrm>
        </p:spPr>
        <p:txBody>
          <a:bodyPr>
            <a:normAutofit fontScale="90000"/>
          </a:bodyPr>
          <a:lstStyle/>
          <a:p>
            <a:r>
              <a:rPr lang="en-US" sz="800" dirty="0"/>
              <a:t>.</a:t>
            </a:r>
            <a:endParaRPr lang="en-IN" sz="800" dirty="0"/>
          </a:p>
        </p:txBody>
      </p:sp>
      <p:sp>
        <p:nvSpPr>
          <p:cNvPr id="3" name="Content Placeholder 2">
            <a:extLst>
              <a:ext uri="{FF2B5EF4-FFF2-40B4-BE49-F238E27FC236}">
                <a16:creationId xmlns:a16="http://schemas.microsoft.com/office/drawing/2014/main" id="{3B2D873F-D675-4676-A1A0-0420B2C57EE8}"/>
              </a:ext>
            </a:extLst>
          </p:cNvPr>
          <p:cNvSpPr>
            <a:spLocks noGrp="1"/>
          </p:cNvSpPr>
          <p:nvPr>
            <p:ph idx="1"/>
          </p:nvPr>
        </p:nvSpPr>
        <p:spPr>
          <a:xfrm>
            <a:off x="825500" y="135389"/>
            <a:ext cx="10746857" cy="6626138"/>
          </a:xfrm>
        </p:spPr>
        <p:txBody>
          <a:bodyPr>
            <a:normAutofit fontScale="25000" lnSpcReduction="20000"/>
          </a:bodyPr>
          <a:lstStyle/>
          <a:p>
            <a:r>
              <a:rPr lang="en-US" sz="12800" dirty="0">
                <a:latin typeface="Times New Roman" panose="02020603050405020304" pitchFamily="18" charset="0"/>
                <a:cs typeface="Times New Roman" panose="02020603050405020304" pitchFamily="18" charset="0"/>
              </a:rPr>
              <a:t>Preprocessing:-</a:t>
            </a:r>
          </a:p>
          <a:p>
            <a:pPr marL="0" indent="0">
              <a:buNone/>
            </a:pPr>
            <a:r>
              <a:rPr lang="en-US" sz="8000" b="1" dirty="0">
                <a:latin typeface="Times New Roman" panose="02020603050405020304" pitchFamily="18" charset="0"/>
                <a:cs typeface="Times New Roman" panose="02020603050405020304" pitchFamily="18" charset="0"/>
              </a:rPr>
              <a:t>1.</a:t>
            </a:r>
            <a:r>
              <a:rPr lang="en-US" sz="8000" b="1" dirty="0"/>
              <a:t>Import Data:</a:t>
            </a:r>
            <a:endParaRPr lang="en-US" sz="8000" dirty="0"/>
          </a:p>
          <a:p>
            <a:r>
              <a:rPr lang="en-US" sz="8000" b="1" dirty="0">
                <a:cs typeface="Times New Roman" panose="02020603050405020304" pitchFamily="18" charset="0"/>
              </a:rPr>
              <a:t>Load Data: </a:t>
            </a:r>
            <a:r>
              <a:rPr lang="en-US" sz="8000" dirty="0"/>
              <a:t>Import datasets related to used cars from sources like Excel, CSV files, or SQL databases into Power BI.</a:t>
            </a:r>
          </a:p>
          <a:p>
            <a:r>
              <a:rPr lang="en-US" sz="8000" b="1" dirty="0">
                <a:cs typeface="Times New Roman" panose="02020603050405020304" pitchFamily="18" charset="0"/>
              </a:rPr>
              <a:t>Data Preview: </a:t>
            </a:r>
            <a:r>
              <a:rPr lang="en-US" sz="8000" dirty="0"/>
              <a:t>Review the dataset in Power BI to understand its structure, including columns such as car name, mileage, price, and brand.</a:t>
            </a:r>
          </a:p>
          <a:p>
            <a:pPr marL="36900" indent="0">
              <a:buNone/>
            </a:pPr>
            <a:endParaRPr lang="en-US" sz="8000" dirty="0">
              <a:cs typeface="Times New Roman" panose="02020603050405020304" pitchFamily="18" charset="0"/>
            </a:endParaRPr>
          </a:p>
          <a:p>
            <a:pPr marL="0" indent="0">
              <a:buNone/>
            </a:pPr>
            <a:r>
              <a:rPr lang="en-US" sz="8000" b="1" dirty="0">
                <a:latin typeface="Times New Roman" panose="02020603050405020304" pitchFamily="18" charset="0"/>
                <a:cs typeface="Times New Roman" panose="02020603050405020304" pitchFamily="18" charset="0"/>
              </a:rPr>
              <a:t>2. Data Cleaning</a:t>
            </a:r>
          </a:p>
          <a:p>
            <a:r>
              <a:rPr kumimoji="0" lang="en-US" altLang="en-US" sz="8000" b="1" i="0" u="none" strike="noStrike" cap="none" normalizeH="0" baseline="0" dirty="0">
                <a:ln>
                  <a:noFill/>
                </a:ln>
                <a:solidFill>
                  <a:schemeClr val="tx1"/>
                </a:solidFill>
                <a:effectLst/>
                <a:cs typeface="Times New Roman" panose="02020603050405020304" pitchFamily="18" charset="0"/>
              </a:rPr>
              <a:t>Remove Duplicates:</a:t>
            </a:r>
            <a:r>
              <a:rPr kumimoji="0" lang="en-US" altLang="en-US" sz="8000" b="0" i="0" u="none" strike="noStrike" cap="none" normalizeH="0" baseline="0" dirty="0">
                <a:ln>
                  <a:noFill/>
                </a:ln>
                <a:solidFill>
                  <a:schemeClr val="tx1"/>
                </a:solidFill>
                <a:effectLst/>
                <a:cs typeface="Times New Roman" panose="02020603050405020304" pitchFamily="18" charset="0"/>
              </a:rPr>
              <a:t> </a:t>
            </a:r>
            <a:r>
              <a:rPr lang="en-US" sz="8000" dirty="0"/>
              <a:t>Eliminate any duplicate entries to ensure the dataset's integrity.</a:t>
            </a:r>
          </a:p>
          <a:p>
            <a:endParaRPr lang="en-US" sz="8000" dirty="0"/>
          </a:p>
          <a:p>
            <a:r>
              <a:rPr kumimoji="0" lang="en-US" altLang="en-US" sz="8000" b="1" i="0" u="none" strike="noStrike" cap="none" normalizeH="0" baseline="0" dirty="0">
                <a:ln>
                  <a:noFill/>
                </a:ln>
                <a:solidFill>
                  <a:schemeClr val="tx1"/>
                </a:solidFill>
                <a:effectLst/>
                <a:cs typeface="Times New Roman" panose="02020603050405020304" pitchFamily="18" charset="0"/>
              </a:rPr>
              <a:t>Handle Missing Values:</a:t>
            </a:r>
          </a:p>
          <a:p>
            <a:endParaRPr kumimoji="0" lang="en-US" altLang="en-US" sz="8000" b="0" i="0" u="none" strike="noStrike" cap="none" normalizeH="0" baseline="0" dirty="0">
              <a:ln>
                <a:noFill/>
              </a:ln>
              <a:solidFill>
                <a:schemeClr val="tx1"/>
              </a:solidFill>
              <a:effectLst/>
              <a:cs typeface="Times New Roman" panose="02020603050405020304" pitchFamily="18" charset="0"/>
            </a:endParaRPr>
          </a:p>
          <a:p>
            <a:r>
              <a:rPr kumimoji="0" lang="en-US" altLang="en-US" sz="8000" b="1" i="0" u="none" strike="noStrike" cap="none" normalizeH="0" baseline="0" dirty="0">
                <a:ln>
                  <a:noFill/>
                </a:ln>
                <a:solidFill>
                  <a:schemeClr val="tx1"/>
                </a:solidFill>
                <a:effectLst/>
                <a:cs typeface="Times New Roman" panose="02020603050405020304" pitchFamily="18" charset="0"/>
              </a:rPr>
              <a:t>Remove Rows:</a:t>
            </a:r>
            <a:r>
              <a:rPr kumimoji="0" lang="en-US" altLang="en-US" sz="8000" b="0" i="0" u="none" strike="noStrike" cap="none" normalizeH="0" baseline="0" dirty="0">
                <a:ln>
                  <a:noFill/>
                </a:ln>
                <a:solidFill>
                  <a:schemeClr val="tx1"/>
                </a:solidFill>
                <a:effectLst/>
                <a:cs typeface="Times New Roman" panose="02020603050405020304" pitchFamily="18" charset="0"/>
              </a:rPr>
              <a:t> </a:t>
            </a:r>
            <a:r>
              <a:rPr lang="en-US" sz="8000" dirty="0"/>
              <a:t>If null values are minimal, consider excluding rows with missing data. </a:t>
            </a:r>
          </a:p>
          <a:p>
            <a:endParaRPr lang="en-US" sz="8000" dirty="0"/>
          </a:p>
          <a:p>
            <a:r>
              <a:rPr kumimoji="0" lang="en-US" altLang="en-US" sz="8000" b="1" i="0" u="none" strike="noStrike" cap="none" normalizeH="0" baseline="0" dirty="0">
                <a:ln>
                  <a:noFill/>
                </a:ln>
                <a:solidFill>
                  <a:schemeClr val="tx1"/>
                </a:solidFill>
                <a:effectLst/>
                <a:cs typeface="Times New Roman" panose="02020603050405020304" pitchFamily="18" charset="0"/>
              </a:rPr>
              <a:t>Replace Values:</a:t>
            </a:r>
            <a:r>
              <a:rPr kumimoji="0" lang="en-US" altLang="en-US" sz="8000" b="0" i="0" u="none" strike="noStrike" cap="none" normalizeH="0" baseline="0" dirty="0">
                <a:ln>
                  <a:noFill/>
                </a:ln>
                <a:solidFill>
                  <a:schemeClr val="tx1"/>
                </a:solidFill>
                <a:effectLst/>
                <a:cs typeface="Times New Roman" panose="02020603050405020304" pitchFamily="18" charset="0"/>
              </a:rPr>
              <a:t> </a:t>
            </a:r>
            <a:r>
              <a:rPr lang="en-US" sz="8000" dirty="0"/>
              <a:t>Fill missing fields using mean, median, or default values to maintain 					 		     consistency.</a:t>
            </a:r>
          </a:p>
          <a:p>
            <a:endParaRPr lang="en-US" sz="8000" dirty="0"/>
          </a:p>
          <a:p>
            <a:r>
              <a:rPr kumimoji="0" lang="en-US" altLang="en-US" sz="8000" b="1" i="0" u="none" strike="noStrike" cap="none" normalizeH="0" baseline="0" dirty="0">
                <a:ln>
                  <a:noFill/>
                </a:ln>
                <a:solidFill>
                  <a:schemeClr val="tx1"/>
                </a:solidFill>
                <a:effectLst/>
                <a:cs typeface="Times New Roman" panose="02020603050405020304" pitchFamily="18" charset="0"/>
              </a:rPr>
              <a:t>Correct Errors:</a:t>
            </a:r>
            <a:r>
              <a:rPr kumimoji="0" lang="en-US" altLang="en-US" sz="8000" b="0" i="0" u="none" strike="noStrike" cap="none" normalizeH="0" baseline="0" dirty="0">
                <a:ln>
                  <a:noFill/>
                </a:ln>
                <a:solidFill>
                  <a:schemeClr val="tx1"/>
                </a:solidFill>
                <a:effectLst/>
                <a:cs typeface="Times New Roman" panose="02020603050405020304" pitchFamily="18" charset="0"/>
              </a:rPr>
              <a:t> </a:t>
            </a:r>
            <a:r>
              <a:rPr lang="en-US" sz="8000" dirty="0"/>
              <a:t>Rectify incorrect data entries or typos to enhance accuracy.</a:t>
            </a:r>
            <a:endParaRPr lang="en-US" sz="7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51489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0375-200A-FDC6-1A40-2A14BBADA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4C356-34BD-80AA-182B-1A74F0879781}"/>
              </a:ext>
            </a:extLst>
          </p:cNvPr>
          <p:cNvSpPr>
            <a:spLocks noGrp="1"/>
          </p:cNvSpPr>
          <p:nvPr>
            <p:ph type="title"/>
          </p:nvPr>
        </p:nvSpPr>
        <p:spPr>
          <a:xfrm flipH="1" flipV="1">
            <a:off x="11950700" y="1"/>
            <a:ext cx="241300" cy="126999"/>
          </a:xfrm>
        </p:spPr>
        <p:txBody>
          <a:bodyPr>
            <a:normAutofit fontScale="90000"/>
          </a:bodyPr>
          <a:lstStyle/>
          <a:p>
            <a:r>
              <a:rPr lang="en-US" sz="800" dirty="0"/>
              <a:t>.</a:t>
            </a:r>
            <a:endParaRPr lang="en-IN" sz="800" dirty="0"/>
          </a:p>
        </p:txBody>
      </p:sp>
      <p:sp>
        <p:nvSpPr>
          <p:cNvPr id="3" name="Content Placeholder 2">
            <a:extLst>
              <a:ext uri="{FF2B5EF4-FFF2-40B4-BE49-F238E27FC236}">
                <a16:creationId xmlns:a16="http://schemas.microsoft.com/office/drawing/2014/main" id="{D5F6E3E6-9F37-EE18-60C9-944CE23C2A3E}"/>
              </a:ext>
            </a:extLst>
          </p:cNvPr>
          <p:cNvSpPr>
            <a:spLocks noGrp="1"/>
          </p:cNvSpPr>
          <p:nvPr>
            <p:ph idx="1"/>
          </p:nvPr>
        </p:nvSpPr>
        <p:spPr>
          <a:xfrm>
            <a:off x="612140" y="284480"/>
            <a:ext cx="10746857" cy="62992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3. Data Transformation:</a:t>
            </a:r>
          </a:p>
          <a:p>
            <a:pPr marL="0" indent="0">
              <a:buNone/>
            </a:pPr>
            <a:endParaRPr lang="en-US" b="1" dirty="0">
              <a:latin typeface="Times New Roman" panose="02020603050405020304" pitchFamily="18" charset="0"/>
              <a:cs typeface="Times New Roman" panose="02020603050405020304" pitchFamily="18" charset="0"/>
            </a:endParaRPr>
          </a:p>
          <a:p>
            <a:pPr indent="-342900" defTabSz="914400" eaLnBrk="0" fontAlgn="base" hangingPunct="0">
              <a:spcBef>
                <a:spcPct val="0"/>
              </a:spcBef>
              <a:spcAft>
                <a:spcPct val="0"/>
              </a:spcAft>
              <a:buClrTx/>
              <a:buSzTx/>
              <a:buFont typeface="Wingdings 2" panose="05020102010507070707" pitchFamily="18" charset="2"/>
              <a:buChar char=""/>
            </a:pPr>
            <a:r>
              <a:rPr kumimoji="0" lang="en-US" altLang="en-US" b="1" i="0" u="none" strike="noStrike" cap="none" normalizeH="0" baseline="0" dirty="0">
                <a:ln>
                  <a:noFill/>
                </a:ln>
                <a:solidFill>
                  <a:schemeClr val="tx1"/>
                </a:solidFill>
                <a:effectLst/>
              </a:rPr>
              <a:t>Change Data Types:</a:t>
            </a:r>
            <a:r>
              <a:rPr kumimoji="0" lang="en-US" altLang="en-US" i="0" u="none" strike="noStrike" cap="none" normalizeH="0" baseline="0" dirty="0">
                <a:ln>
                  <a:noFill/>
                </a:ln>
                <a:solidFill>
                  <a:schemeClr val="tx1"/>
                </a:solidFill>
                <a:effectLst/>
              </a:rPr>
              <a:t> </a:t>
            </a:r>
            <a:r>
              <a:rPr lang="en-US" dirty="0"/>
              <a:t>Update data types where necessary (e.g., ensuring numerical values for 		         	        mileage or prices).</a:t>
            </a:r>
          </a:p>
          <a:p>
            <a:pPr marR="0" lvl="0" indent="-342900" algn="l" defTabSz="914400" rtl="0" eaLnBrk="0" fontAlgn="base" latinLnBrk="0" hangingPunct="0">
              <a:lnSpc>
                <a:spcPct val="100000"/>
              </a:lnSpc>
              <a:spcBef>
                <a:spcPct val="0"/>
              </a:spcBef>
              <a:spcAft>
                <a:spcPct val="0"/>
              </a:spcAft>
              <a:buClrTx/>
              <a:buSzTx/>
              <a:buFont typeface="Wingdings 2" panose="05020102010507070707" pitchFamily="18" charset="2"/>
              <a:buChar char=""/>
              <a:tabLst/>
            </a:pPr>
            <a:endParaRPr kumimoji="0" lang="en-US" altLang="en-US" b="0" i="0" u="none" strike="noStrike" cap="none" normalizeH="0" baseline="0" dirty="0">
              <a:ln>
                <a:noFill/>
              </a:ln>
              <a:solidFill>
                <a:schemeClr val="tx1"/>
              </a:solidFill>
              <a:effectLst/>
            </a:endParaRPr>
          </a:p>
          <a:p>
            <a:pPr indent="-342900" defTabSz="914400" eaLnBrk="0" fontAlgn="base" hangingPunct="0">
              <a:spcBef>
                <a:spcPct val="0"/>
              </a:spcBef>
              <a:spcAft>
                <a:spcPct val="0"/>
              </a:spcAft>
              <a:buClrTx/>
              <a:buSzTx/>
              <a:buFont typeface="Wingdings 2" panose="05020102010507070707" pitchFamily="18" charset="2"/>
              <a:buChar char=""/>
            </a:pPr>
            <a:r>
              <a:rPr kumimoji="0" lang="en-US" altLang="en-US" b="1" i="0" u="none" strike="noStrike" cap="none" normalizeH="0" baseline="0" dirty="0">
                <a:ln>
                  <a:noFill/>
                </a:ln>
                <a:solidFill>
                  <a:schemeClr val="tx1"/>
                </a:solidFill>
                <a:effectLst/>
              </a:rPr>
              <a:t>Rename Columns: </a:t>
            </a:r>
            <a:r>
              <a:rPr lang="en-US" dirty="0"/>
              <a:t>Assign meaningful column names to improve readability and align with the 		      analysis objectives.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indent="0">
              <a:buNone/>
            </a:pPr>
            <a:r>
              <a:rPr lang="en-US" b="1" dirty="0"/>
              <a:t>4.</a:t>
            </a:r>
            <a:r>
              <a:rPr lang="en-US" b="1" dirty="0">
                <a:effectLst/>
              </a:rPr>
              <a:t>Data Visualization:</a:t>
            </a:r>
          </a:p>
          <a:p>
            <a:pPr marL="0" indent="0">
              <a:buNone/>
            </a:pPr>
            <a:endParaRPr lang="en-US" dirty="0">
              <a:effectLst/>
            </a:endParaRPr>
          </a:p>
          <a:p>
            <a:pPr>
              <a:buFont typeface="Wingdings 2" panose="05020102010507070707" pitchFamily="18" charset="2"/>
              <a:buChar char=""/>
            </a:pPr>
            <a:r>
              <a:rPr lang="en-US" dirty="0"/>
              <a:t>Leverage Power BI's features to create visualizations such as bar charts, scatter plots, and line graphs to analyze trends, price distributions, and mileage impact on used car prices.</a:t>
            </a:r>
          </a:p>
          <a:p>
            <a:pPr>
              <a:buFont typeface="Wingdings 2" panose="05020102010507070707" pitchFamily="18" charset="2"/>
              <a:buChar char=""/>
            </a:pPr>
            <a:r>
              <a:rPr lang="en-US" dirty="0"/>
              <a:t>Customize dashboards for an intuitive understanding of insights.</a:t>
            </a:r>
          </a:p>
          <a:p>
            <a:pPr marL="0" indent="0">
              <a:buNone/>
            </a:pPr>
            <a:endParaRPr lang="en-IN" dirty="0"/>
          </a:p>
        </p:txBody>
      </p:sp>
    </p:spTree>
    <p:extLst>
      <p:ext uri="{BB962C8B-B14F-4D97-AF65-F5344CB8AC3E}">
        <p14:creationId xmlns:p14="http://schemas.microsoft.com/office/powerpoint/2010/main" val="403376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DAC76-20D4-4CD6-897D-F1B9211806DD}"/>
              </a:ext>
            </a:extLst>
          </p:cNvPr>
          <p:cNvSpPr>
            <a:spLocks noGrp="1"/>
          </p:cNvSpPr>
          <p:nvPr>
            <p:ph type="title"/>
          </p:nvPr>
        </p:nvSpPr>
        <p:spPr>
          <a:xfrm flipH="1" flipV="1">
            <a:off x="12026900" y="1"/>
            <a:ext cx="165100" cy="165099"/>
          </a:xfrm>
        </p:spPr>
        <p:txBody>
          <a:bodyPr>
            <a:normAutofit fontScale="90000"/>
          </a:bodyPr>
          <a:lstStyle/>
          <a:p>
            <a:r>
              <a:rPr lang="en-US" sz="800" dirty="0"/>
              <a:t>.</a:t>
            </a:r>
            <a:endParaRPr lang="en-IN" sz="800" dirty="0"/>
          </a:p>
        </p:txBody>
      </p:sp>
      <p:sp>
        <p:nvSpPr>
          <p:cNvPr id="3" name="Content Placeholder 2">
            <a:extLst>
              <a:ext uri="{FF2B5EF4-FFF2-40B4-BE49-F238E27FC236}">
                <a16:creationId xmlns:a16="http://schemas.microsoft.com/office/drawing/2014/main" id="{AFCE5E90-2EFF-4B95-AACB-706AEB6BF65F}"/>
              </a:ext>
            </a:extLst>
          </p:cNvPr>
          <p:cNvSpPr>
            <a:spLocks noGrp="1"/>
          </p:cNvSpPr>
          <p:nvPr>
            <p:ph idx="1"/>
          </p:nvPr>
        </p:nvSpPr>
        <p:spPr>
          <a:xfrm>
            <a:off x="647700" y="520700"/>
            <a:ext cx="10619857" cy="5981700"/>
          </a:xfrm>
        </p:spPr>
        <p:txBody>
          <a:bodyPr>
            <a:normAutofit/>
          </a:bodyPr>
          <a:lstStyle/>
          <a:p>
            <a:pPr marL="36900" indent="0">
              <a:buNone/>
            </a:pPr>
            <a:r>
              <a:rPr lang="en-US" b="1" dirty="0">
                <a:latin typeface="Times New Roman" panose="02020603050405020304" pitchFamily="18" charset="0"/>
                <a:cs typeface="Times New Roman" panose="02020603050405020304" pitchFamily="18" charset="0"/>
              </a:rPr>
              <a:t>4. Filtering and Sorting</a:t>
            </a:r>
          </a:p>
          <a:p>
            <a:r>
              <a:rPr lang="en-US" b="1" dirty="0"/>
              <a:t>Filter Rows:</a:t>
            </a:r>
            <a:br>
              <a:rPr lang="en-US" dirty="0"/>
            </a:br>
            <a:r>
              <a:rPr lang="en-US" dirty="0"/>
              <a:t>Use Power BI’s filter options to eliminate unnecessary data, such as cars outside specific price ranges or brands.</a:t>
            </a:r>
          </a:p>
          <a:p>
            <a:endParaRPr lang="en-US" dirty="0"/>
          </a:p>
          <a:p>
            <a:r>
              <a:rPr lang="en-US" b="1" dirty="0"/>
              <a:t>Sort Data:</a:t>
            </a:r>
            <a:br>
              <a:rPr lang="en-US" dirty="0"/>
            </a:br>
            <a:r>
              <a:rPr lang="en-US" dirty="0"/>
              <a:t>Organize data by columns, such as ranking cars based on prices or arranging them by mileage, to make the dataset more insightful and structured.</a:t>
            </a:r>
          </a:p>
          <a:p>
            <a:endParaRPr lang="en-US" dirty="0"/>
          </a:p>
          <a:p>
            <a:pPr marL="36900" indent="0">
              <a:buNone/>
            </a:pPr>
            <a:r>
              <a:rPr lang="en-US" b="1" dirty="0"/>
              <a:t>5. Save and Load Data</a:t>
            </a:r>
            <a:endParaRPr lang="en-US" dirty="0"/>
          </a:p>
          <a:p>
            <a:r>
              <a:rPr lang="en-US" b="1" dirty="0"/>
              <a:t>Save and Publish:</a:t>
            </a:r>
            <a:br>
              <a:rPr lang="en-US" dirty="0"/>
            </a:br>
            <a:r>
              <a:rPr lang="en-US" dirty="0"/>
              <a:t>After completing data transformations, save the Power BI workbook and publish it to Power BI Service for sharing and further analysis.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03369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0BB8F-6D0E-4926-9358-5FF213A678C0}"/>
              </a:ext>
            </a:extLst>
          </p:cNvPr>
          <p:cNvSpPr>
            <a:spLocks noGrp="1"/>
          </p:cNvSpPr>
          <p:nvPr>
            <p:ph type="title"/>
          </p:nvPr>
        </p:nvSpPr>
        <p:spPr>
          <a:xfrm flipH="1" flipV="1">
            <a:off x="12065000" y="1"/>
            <a:ext cx="127000" cy="165099"/>
          </a:xfrm>
        </p:spPr>
        <p:txBody>
          <a:bodyPr>
            <a:normAutofit fontScale="90000"/>
          </a:bodyPr>
          <a:lstStyle/>
          <a:p>
            <a:r>
              <a:rPr lang="en-US" sz="800" dirty="0"/>
              <a:t>.</a:t>
            </a:r>
            <a:endParaRPr lang="en-IN" sz="800" dirty="0"/>
          </a:p>
        </p:txBody>
      </p:sp>
      <p:pic>
        <p:nvPicPr>
          <p:cNvPr id="4" name="Picture 3">
            <a:extLst>
              <a:ext uri="{FF2B5EF4-FFF2-40B4-BE49-F238E27FC236}">
                <a16:creationId xmlns:a16="http://schemas.microsoft.com/office/drawing/2014/main" id="{E4D8A57A-01D2-7708-9307-82F3FEA0C7EC}"/>
              </a:ext>
            </a:extLst>
          </p:cNvPr>
          <p:cNvPicPr>
            <a:picLocks noChangeAspect="1"/>
          </p:cNvPicPr>
          <p:nvPr/>
        </p:nvPicPr>
        <p:blipFill>
          <a:blip r:embed="rId2"/>
          <a:stretch>
            <a:fillRect/>
          </a:stretch>
        </p:blipFill>
        <p:spPr>
          <a:xfrm>
            <a:off x="1498833" y="843093"/>
            <a:ext cx="9194334" cy="5171813"/>
          </a:xfrm>
          <a:prstGeom prst="rect">
            <a:avLst/>
          </a:prstGeom>
        </p:spPr>
      </p:pic>
    </p:spTree>
    <p:extLst>
      <p:ext uri="{BB962C8B-B14F-4D97-AF65-F5344CB8AC3E}">
        <p14:creationId xmlns:p14="http://schemas.microsoft.com/office/powerpoint/2010/main" val="4026927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91CD-69D2-7593-D255-23C0F2D55979}"/>
              </a:ext>
            </a:extLst>
          </p:cNvPr>
          <p:cNvSpPr>
            <a:spLocks noGrp="1"/>
          </p:cNvSpPr>
          <p:nvPr>
            <p:ph type="title"/>
          </p:nvPr>
        </p:nvSpPr>
        <p:spPr>
          <a:xfrm>
            <a:off x="919119" y="2943775"/>
            <a:ext cx="10353762" cy="970450"/>
          </a:xfrm>
        </p:spPr>
        <p:txBody>
          <a:bodyPr/>
          <a:lstStyle/>
          <a:p>
            <a:r>
              <a:rPr lang="en-US" dirty="0"/>
              <a:t>Thank You</a:t>
            </a:r>
          </a:p>
        </p:txBody>
      </p:sp>
    </p:spTree>
    <p:extLst>
      <p:ext uri="{BB962C8B-B14F-4D97-AF65-F5344CB8AC3E}">
        <p14:creationId xmlns:p14="http://schemas.microsoft.com/office/powerpoint/2010/main" val="21085855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6546</TotalTime>
  <Words>1422</Words>
  <Application>Microsoft Office PowerPoint</Application>
  <PresentationFormat>Widescreen</PresentationFormat>
  <Paragraphs>158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Calisto MT</vt:lpstr>
      <vt:lpstr>Consolas</vt:lpstr>
      <vt:lpstr>Times New Roman</vt:lpstr>
      <vt:lpstr>Wingdings</vt:lpstr>
      <vt:lpstr>Wingdings 2</vt:lpstr>
      <vt:lpstr>Slate</vt:lpstr>
      <vt:lpstr>Used Cars Price Analysis</vt:lpstr>
      <vt:lpstr>Project Objective:-</vt:lpstr>
      <vt:lpstr>Main Agenda</vt:lpstr>
      <vt:lpstr>Tools Used :-</vt:lpstr>
      <vt:lpstr>INTRODUCTION :-</vt:lpstr>
      <vt:lpstr>WEB SCRAPING :-</vt:lpstr>
      <vt:lpstr>.</vt:lpstr>
      <vt:lpstr>.</vt:lpstr>
      <vt:lpstr>.</vt:lpstr>
      <vt:lpstr>.</vt:lpstr>
      <vt:lpstr>.</vt:lpstr>
      <vt:lpstr>OUTPUT :-</vt:lpstr>
      <vt:lpstr>DATA MANIPULATION :-</vt:lpstr>
      <vt:lpstr>.</vt:lpstr>
      <vt:lpstr>.</vt:lpstr>
      <vt:lpstr>.</vt:lpstr>
      <vt:lpst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Hospitality Analysis on Indian Hotels</dc:title>
  <dc:creator>deepak royal</dc:creator>
  <cp:lastModifiedBy>Jay Kumar</cp:lastModifiedBy>
  <cp:revision>40</cp:revision>
  <dcterms:created xsi:type="dcterms:W3CDTF">2024-08-14T11:02:29Z</dcterms:created>
  <dcterms:modified xsi:type="dcterms:W3CDTF">2025-04-21T08:40:47Z</dcterms:modified>
</cp:coreProperties>
</file>